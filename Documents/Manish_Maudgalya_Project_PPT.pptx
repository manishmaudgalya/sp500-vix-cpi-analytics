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68" r:id="rId4"/>
    <p:sldId id="258" r:id="rId5"/>
    <p:sldId id="259" r:id="rId6"/>
    <p:sldId id="260" r:id="rId7"/>
    <p:sldId id="261" r:id="rId8"/>
    <p:sldId id="270" r:id="rId9"/>
    <p:sldId id="269" r:id="rId10"/>
    <p:sldId id="263" r:id="rId11"/>
    <p:sldId id="264" r:id="rId12"/>
    <p:sldId id="265" r:id="rId13"/>
    <p:sldId id="266" r:id="rId14"/>
    <p:sldId id="267" r:id="rId15"/>
  </p:sldIdLst>
  <p:sldSz cx="12192000" cy="6858000"/>
  <p:notesSz cx="6858000" cy="9144000"/>
  <p:embeddedFontLst>
    <p:embeddedFont>
      <p:font typeface="Lato" panose="020F0502020204030203" pitchFamily="34" charset="0"/>
      <p:regular r:id="rId17"/>
      <p:bold r:id="rId18"/>
      <p:italic r:id="rId19"/>
      <p:boldItalic r:id="rId20"/>
    </p:embeddedFont>
    <p:embeddedFont>
      <p:font typeface="Poppins" pitchFamily="2" charset="77"/>
      <p:regular r:id="rId21"/>
      <p:bold r:id="rId22"/>
      <p:italic r:id="rId23"/>
      <p:boldItalic r:id="rId24"/>
    </p:embeddedFont>
    <p:embeddedFont>
      <p:font typeface="Poppins SemiBold" pitchFamily="2" charset="77"/>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0BB75A-6E55-42A8-BA1D-250CB0AA10F0}">
  <a:tblStyle styleId="{040BB75A-6E55-42A8-BA1D-250CB0AA10F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49"/>
    <p:restoredTop sz="81694"/>
  </p:normalViewPr>
  <p:slideViewPr>
    <p:cSldViewPr snapToGrid="0">
      <p:cViewPr varScale="1">
        <p:scale>
          <a:sx n="180" d="100"/>
          <a:sy n="180" d="100"/>
        </p:scale>
        <p:origin x="2536"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Tracked this data on a monthly basis spanning a 13-year period from January 2010 to December 2023, which gives us a robust sample size of 168 data points.</a:t>
            </a:r>
          </a:p>
          <a:p>
            <a:r>
              <a:rPr lang="en-US" dirty="0"/>
              <a:t>For our variables:</a:t>
            </a:r>
          </a:p>
          <a:p>
            <a:r>
              <a:rPr lang="en-US" b="1" dirty="0"/>
              <a:t>First, the S&amp;P 500:</a:t>
            </a:r>
            <a:r>
              <a:rPr lang="en-US" dirty="0"/>
              <a:t> We pulled this from Yahoo Finance and transformed it into monthly log returns so we could accurately model the percentage growth and market performance month-over-month.</a:t>
            </a:r>
          </a:p>
          <a:p>
            <a:r>
              <a:rPr lang="en-US" b="1" dirty="0"/>
              <a:t>Second, the VIX Index:</a:t>
            </a:r>
            <a:r>
              <a:rPr lang="en-US" dirty="0"/>
              <a:t> This is also sourced from Yahoo Finance and serves as our primary proxy for market fear and expected volatility.</a:t>
            </a:r>
          </a:p>
          <a:p>
            <a:r>
              <a:rPr lang="en-US" b="1" dirty="0"/>
              <a:t>Finally, the CPI (Consumer Price Index):</a:t>
            </a:r>
            <a:r>
              <a:rPr lang="en-US" dirty="0"/>
              <a:t> We sourced this directly from the FRED database. We calculated the monthly change in these consumer prices to represent our inflation rate shocks.</a:t>
            </a:r>
          </a:p>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6F1F039-B46E-C46F-7286-B7BDE05F611C}"/>
            </a:ext>
          </a:extLst>
        </p:cNvPr>
        <p:cNvGrpSpPr/>
        <p:nvPr/>
      </p:nvGrpSpPr>
      <p:grpSpPr>
        <a:xfrm>
          <a:off x="0" y="0"/>
          <a:ext cx="0" cy="0"/>
          <a:chOff x="0" y="0"/>
          <a:chExt cx="0" cy="0"/>
        </a:xfrm>
      </p:grpSpPr>
      <p:sp>
        <p:nvSpPr>
          <p:cNvPr id="104" name="Google Shape;104;p3:notes">
            <a:extLst>
              <a:ext uri="{FF2B5EF4-FFF2-40B4-BE49-F238E27FC236}">
                <a16:creationId xmlns:a16="http://schemas.microsoft.com/office/drawing/2014/main" id="{000B2CED-4602-33A4-F585-5508CCD6F6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S&amp;P 500:</a:t>
            </a:r>
            <a:r>
              <a:rPr lang="en-US" dirty="0"/>
              <a:t> You will see the classic stock market chart—a massive curve starting around 1,000 in 2010 and climbing near 4,700 by the end of 2023.</a:t>
            </a:r>
          </a:p>
          <a:p>
            <a:r>
              <a:rPr lang="en-US" b="1" dirty="0"/>
              <a:t>CPI:</a:t>
            </a:r>
            <a:r>
              <a:rPr lang="en-US" dirty="0"/>
              <a:t> You will see a slow, steady upward slope that suddenly bends into a much steeper, aggressive climb starting around 2021 (the post-pandemic inflation surge).</a:t>
            </a:r>
          </a:p>
        </p:txBody>
      </p:sp>
      <p:sp>
        <p:nvSpPr>
          <p:cNvPr id="105" name="Google Shape;105;p3:notes">
            <a:extLst>
              <a:ext uri="{FF2B5EF4-FFF2-40B4-BE49-F238E27FC236}">
                <a16:creationId xmlns:a16="http://schemas.microsoft.com/office/drawing/2014/main" id="{1C5AD1D4-C796-987D-3C23-B51E941B67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9664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Looking at the initial plots, major market drawdowns (like early 2020) line up perfectly with massive spikes in the VIX. Inflation shows a steadier, trend-following behavior. </a:t>
            </a:r>
            <a:endParaRPr dirty="0"/>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Autocorrelation (ACF):</a:t>
            </a:r>
            <a:r>
              <a:rPr lang="en-US" dirty="0"/>
              <a:t> The S&amp;P 500 returns look like white noise—past returns don't predict future returns. However, the VIX and Inflation have "memory." Their ACF bars trail off slowly, meaning high volatility today means high volatility tomorrow (volatility clustering).</a:t>
            </a:r>
            <a:endParaRPr dirty="0"/>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most important takeaway here is the massive negative spike at "Lag 0" between the VIX and the S&amp;P 500. This physically proves Hypothesis 1: high fear and market drops happen in the exact same month. </a:t>
            </a:r>
            <a:endParaRPr dirty="0"/>
          </a:p>
        </p:txBody>
      </p:sp>
      <p:sp>
        <p:nvSpPr>
          <p:cNvPr id="121" name="Google Shape;12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S&amp;P 500 spectrum is relatively flat, confirming it behaves largely like unpredictable white noise. </a:t>
            </a:r>
          </a:p>
          <a:p>
            <a:r>
              <a:rPr lang="en-US" dirty="0"/>
              <a:t>The VIX and Inflation spectra show peaks at the lower frequencies (the left side of the chart). This indicates that these two variables are driven by longer-term, multi-month macro business cycles rather than fast, erratic daily noise. </a:t>
            </a:r>
          </a:p>
          <a:p>
            <a:pPr marL="0" lvl="0" indent="0" algn="l" rtl="0">
              <a:spcBef>
                <a:spcPts val="0"/>
              </a:spcBef>
              <a:spcAft>
                <a:spcPts val="0"/>
              </a:spcAft>
              <a:buNone/>
            </a:pPr>
            <a:endParaRPr dirty="0"/>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08FE67D9-20E6-7C21-EF3D-1E987BEB44D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D4339CA2-C4F8-9B1E-4F1D-6D0A0C5F33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t>
            </a:r>
            <a:r>
              <a:rPr lang="en-US" b="1" dirty="0"/>
              <a:t>ARIMAX (Contemporaneous)</a:t>
            </a:r>
            <a:r>
              <a:rPr lang="en-US" dirty="0"/>
              <a:t> model won decisively, scoring the lowest AIC (</a:t>
            </a:r>
            <a:r>
              <a:rPr lang="en-US" b="1" dirty="0"/>
              <a:t>-622.66</a:t>
            </a:r>
            <a:r>
              <a:rPr lang="en-US" dirty="0"/>
              <a:t>) and BIC (</a:t>
            </a:r>
            <a:r>
              <a:rPr lang="en-US" b="1" dirty="0"/>
              <a:t>-594.54</a:t>
            </a:r>
            <a:r>
              <a:rPr lang="en-US" dirty="0"/>
              <a:t>).</a:t>
            </a:r>
          </a:p>
          <a:p>
            <a:r>
              <a:rPr lang="en-US" b="1" dirty="0"/>
              <a:t>The Interpretation:</a:t>
            </a:r>
            <a:r>
              <a:rPr lang="en-US" dirty="0"/>
              <a:t> This means that the stock market is best explained by </a:t>
            </a:r>
            <a:r>
              <a:rPr lang="en-US" i="1" dirty="0"/>
              <a:t>what is happening right now</a:t>
            </a:r>
            <a:r>
              <a:rPr lang="en-US" dirty="0"/>
              <a:t> with volatility and inflation, rather than what happened last month.</a:t>
            </a:r>
          </a:p>
          <a:p>
            <a:pPr marL="0" lvl="0" indent="0" algn="l" rtl="0">
              <a:spcBef>
                <a:spcPts val="0"/>
              </a:spcBef>
              <a:spcAft>
                <a:spcPts val="0"/>
              </a:spcAft>
              <a:buNone/>
            </a:pPr>
            <a:endParaRPr dirty="0"/>
          </a:p>
        </p:txBody>
      </p:sp>
      <p:sp>
        <p:nvSpPr>
          <p:cNvPr id="137" name="Google Shape;137;p7:notes">
            <a:extLst>
              <a:ext uri="{FF2B5EF4-FFF2-40B4-BE49-F238E27FC236}">
                <a16:creationId xmlns:a16="http://schemas.microsoft.com/office/drawing/2014/main" id="{58922429-D9C8-86AF-CD7B-3FA5F967EF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1780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Residual Diagnostics:</a:t>
            </a:r>
            <a:r>
              <a:rPr lang="en-US" dirty="0"/>
              <a:t> To prove your winning model is mathematically valid, you ran a Ljung-Box test. It returned a p-value of </a:t>
            </a:r>
            <a:r>
              <a:rPr lang="en-US" b="1" dirty="0"/>
              <a:t>0.6489</a:t>
            </a:r>
            <a:r>
              <a:rPr lang="en-US" dirty="0"/>
              <a:t>. Because this is well above 0.05, you can confidently tell your class: </a:t>
            </a:r>
            <a:r>
              <a:rPr lang="en-US" i="1" dirty="0"/>
              <a:t>"The residuals are white noise. Our model successfully captured all the systematic patterns in the data.</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Ljung-Box Q-statistic tests for the joint significance of residual autocorrelations. With </a:t>
            </a:r>
            <a:r>
              <a:rPr lang="en-US" sz="1100" b="0" i="0" u="none" strike="noStrike" cap="none" dirty="0">
                <a:solidFill>
                  <a:srgbClr val="000000"/>
                </a:solidFill>
                <a:effectLst/>
                <a:latin typeface="Arial"/>
                <a:ea typeface="Arial"/>
                <a:cs typeface="Arial"/>
                <a:sym typeface="Arial"/>
              </a:rPr>
              <a:t>$Q^* = 16.125$</a:t>
            </a:r>
            <a:r>
              <a:rPr lang="en-US" dirty="0"/>
              <a:t> and </a:t>
            </a:r>
            <a:r>
              <a:rPr lang="en-US" sz="1100" b="0" i="0" u="none" strike="noStrike" cap="none" dirty="0">
                <a:solidFill>
                  <a:srgbClr val="000000"/>
                </a:solidFill>
                <a:effectLst/>
                <a:latin typeface="Arial"/>
                <a:ea typeface="Arial"/>
                <a:cs typeface="Arial"/>
                <a:sym typeface="Arial"/>
              </a:rPr>
              <a:t>$p = 0.6489$</a:t>
            </a:r>
            <a:r>
              <a:rPr lang="en-US" dirty="0"/>
              <a:t>, we firmly fail to reject the null hypothesis of no serial correlation. This confirms the model is </a:t>
            </a:r>
            <a:r>
              <a:rPr lang="en-US" sz="1100" b="1" i="0" u="none" strike="noStrike" cap="none" dirty="0">
                <a:solidFill>
                  <a:srgbClr val="000000"/>
                </a:solidFill>
                <a:effectLst/>
                <a:latin typeface="Arial"/>
                <a:ea typeface="Arial"/>
                <a:cs typeface="Arial"/>
                <a:sym typeface="Arial"/>
              </a:rPr>
              <a:t>correctly specified</a:t>
            </a:r>
            <a:r>
              <a:rPr lang="en-US" dirty="0"/>
              <a:t> and the error terms have been successfully reduced to strictly identically and independently distributed (</a:t>
            </a:r>
            <a:r>
              <a:rPr lang="en-US" dirty="0" err="1"/>
              <a:t>i.i.d.</a:t>
            </a:r>
            <a:r>
              <a:rPr lang="en-US" dirty="0"/>
              <a:t>) white noise.</a:t>
            </a:r>
          </a:p>
          <a:p>
            <a:pPr marL="0" lvl="0" indent="0" algn="l" rtl="0">
              <a:spcBef>
                <a:spcPts val="0"/>
              </a:spcBef>
              <a:spcAft>
                <a:spcPts val="0"/>
              </a:spcAft>
              <a:buNone/>
            </a:pPr>
            <a:endParaRPr dirty="0"/>
          </a:p>
        </p:txBody>
      </p:sp>
      <p:sp>
        <p:nvSpPr>
          <p:cNvPr id="160" name="Google Shape;16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VAR model found a massive </a:t>
            </a:r>
            <a:r>
              <a:rPr lang="en-US" b="1" dirty="0"/>
              <a:t>-0.8084</a:t>
            </a:r>
            <a:r>
              <a:rPr lang="en-US" dirty="0"/>
              <a:t> correlation between VIX and S&amp;P 500 residuals, further cementing that fear and market returns move precisely opposite to each other.</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Vector Autoregression (VAR):</a:t>
            </a:r>
            <a:r>
              <a:rPr lang="en-US" dirty="0"/>
              <a:t> Rather than assuming a strict one-way causal relationship, we estimated a reduced-form VAR model with an optimal lag length of </a:t>
            </a:r>
            <a:r>
              <a:rPr lang="en-US" sz="1100" b="0" i="0" u="none" strike="noStrike" cap="none" dirty="0">
                <a:solidFill>
                  <a:srgbClr val="000000"/>
                </a:solidFill>
                <a:effectLst/>
                <a:latin typeface="Arial"/>
                <a:ea typeface="Arial"/>
                <a:cs typeface="Arial"/>
                <a:sym typeface="Arial"/>
              </a:rPr>
              <a:t>$p=4$</a:t>
            </a:r>
            <a:r>
              <a:rPr lang="en-US" dirty="0"/>
              <a:t> (selected via AIC). This captures the </a:t>
            </a:r>
            <a:r>
              <a:rPr lang="en-US" sz="1100" b="1" i="0" u="none" strike="noStrike" cap="none" dirty="0">
                <a:solidFill>
                  <a:srgbClr val="000000"/>
                </a:solidFill>
                <a:effectLst/>
                <a:latin typeface="Arial"/>
                <a:ea typeface="Arial"/>
                <a:cs typeface="Arial"/>
                <a:sym typeface="Arial"/>
              </a:rPr>
              <a:t>endogenous feedback loops</a:t>
            </a:r>
            <a:r>
              <a:rPr lang="en-US" dirty="0"/>
              <a:t> between all three variables. The residual covariance matrix confirmed a massive negative correlation (</a:t>
            </a:r>
            <a:r>
              <a:rPr lang="en-US" sz="1100" b="0" i="0" u="none" strike="noStrike" cap="none" dirty="0">
                <a:solidFill>
                  <a:srgbClr val="000000"/>
                </a:solidFill>
                <a:effectLst/>
                <a:latin typeface="Arial"/>
                <a:ea typeface="Arial"/>
                <a:cs typeface="Arial"/>
                <a:sym typeface="Arial"/>
              </a:rPr>
              <a:t>$\rho = -0.8084$</a:t>
            </a:r>
            <a:r>
              <a:rPr lang="en-US" dirty="0"/>
              <a:t>) between the structural innovations of VIX and the S&amp;P 500.</a:t>
            </a:r>
            <a:endParaRPr dirty="0"/>
          </a:p>
        </p:txBody>
      </p:sp>
      <p:sp>
        <p:nvSpPr>
          <p:cNvPr id="170" name="Google Shape;17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With these two graphs, we conclude that </a:t>
            </a:r>
            <a:r>
              <a:rPr lang="en-US" b="1" dirty="0"/>
              <a:t>structural innovations to inflation do not induce statistically significant, persistent deviations</a:t>
            </a:r>
            <a:r>
              <a:rPr lang="en-US" dirty="0"/>
              <a:t> from the steady state in either equity returns or implied volatility within this sample period. The shocks are purely transitory and absorbed without structural regime shifts.</a:t>
            </a:r>
            <a:endParaRPr dirty="0"/>
          </a:p>
        </p:txBody>
      </p:sp>
      <p:sp>
        <p:nvSpPr>
          <p:cNvPr id="178" name="Google Shape;17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analysis confirms that the VIX is a dominant, contemporaneous driver of S&amp;P 500 returns—when fear spikes, the market immediately drops. However, while inflation is a crucial long-term macroeconomic indicator, our VAR and Impulse Response models show that sudden month-to-month shocks in inflation do not significantly dictate short-term market returns or volatility spikes.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86" name="Google Shape;18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sp>
        <p:nvSpPr>
          <p:cNvPr id="84" name="Google Shape;84;p13"/>
          <p:cNvSpPr txBox="1">
            <a:spLocks noGrp="1"/>
          </p:cNvSpPr>
          <p:nvPr>
            <p:ph type="title" idx="4294967295"/>
          </p:nvPr>
        </p:nvSpPr>
        <p:spPr>
          <a:xfrm>
            <a:off x="2065496" y="2338387"/>
            <a:ext cx="8061007" cy="85725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500" b="1" i="0" u="none" strike="noStrike" kern="0" cap="none" spc="0" normalizeH="0" baseline="0" noProof="0" dirty="0">
                <a:ln>
                  <a:noFill/>
                </a:ln>
                <a:solidFill>
                  <a:srgbClr val="1E293B"/>
                </a:solidFill>
                <a:effectLst/>
                <a:uLnTx/>
                <a:uFillTx/>
                <a:latin typeface="Poppins"/>
                <a:ea typeface="Poppins"/>
                <a:cs typeface="Poppins"/>
                <a:sym typeface="Poppins"/>
              </a:rPr>
              <a:t>Market Dynamics Analysis</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85" name="Google Shape;85;p13"/>
          <p:cNvSpPr txBox="1"/>
          <p:nvPr/>
        </p:nvSpPr>
        <p:spPr>
          <a:xfrm>
            <a:off x="3543300" y="3290887"/>
            <a:ext cx="5446464" cy="41549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64748B"/>
                </a:solidFill>
                <a:latin typeface="Lato"/>
                <a:ea typeface="Lato"/>
                <a:cs typeface="Lato"/>
                <a:sym typeface="Lato"/>
              </a:rPr>
              <a:t>A Study of S&amp;P 500, VIX, and Inflation (2010–2023)</a:t>
            </a:r>
            <a:endParaRPr dirty="0"/>
          </a:p>
        </p:txBody>
      </p:sp>
      <p:sp>
        <p:nvSpPr>
          <p:cNvPr id="86" name="Google Shape;86;p13"/>
          <p:cNvSpPr txBox="1"/>
          <p:nvPr/>
        </p:nvSpPr>
        <p:spPr>
          <a:xfrm>
            <a:off x="4397418" y="4254225"/>
            <a:ext cx="3397162"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3B82F6"/>
                </a:solidFill>
                <a:latin typeface="Lato"/>
                <a:ea typeface="Lato"/>
                <a:cs typeface="Lato"/>
                <a:sym typeface="Lato"/>
              </a:rPr>
              <a:t>Final Project | Time Series </a:t>
            </a:r>
            <a:r>
              <a:rPr lang="en-US" sz="1200" b="1" dirty="0">
                <a:solidFill>
                  <a:srgbClr val="3B82F6"/>
                </a:solidFill>
                <a:latin typeface="Lato"/>
                <a:ea typeface="Lato"/>
                <a:cs typeface="Lato"/>
                <a:sym typeface="Lato"/>
              </a:rPr>
              <a:t>Analysis | STAT-S 650</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
        <p:cNvGrpSpPr/>
        <p:nvPr/>
      </p:nvGrpSpPr>
      <p:grpSpPr>
        <a:xfrm>
          <a:off x="0" y="0"/>
          <a:ext cx="0" cy="0"/>
          <a:chOff x="0" y="0"/>
          <a:chExt cx="0" cy="0"/>
        </a:xfrm>
      </p:grpSpPr>
      <p:sp>
        <p:nvSpPr>
          <p:cNvPr id="91" name="Google Shape;91;p14"/>
          <p:cNvSpPr txBox="1">
            <a:spLocks noGrp="1"/>
          </p:cNvSpPr>
          <p:nvPr>
            <p:ph type="title" idx="4294967295"/>
          </p:nvPr>
        </p:nvSpPr>
        <p:spPr>
          <a:xfrm>
            <a:off x="571500" y="856059"/>
            <a:ext cx="11601450" cy="415498"/>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0" i="0" u="none" strike="noStrike" kern="0" cap="none" spc="0" normalizeH="0" baseline="0" noProof="0" dirty="0">
                <a:ln>
                  <a:noFill/>
                </a:ln>
                <a:solidFill>
                  <a:schemeClr val="tx1"/>
                </a:solidFill>
                <a:effectLst/>
                <a:uLnTx/>
                <a:uFillTx/>
                <a:latin typeface="Poppins SemiBold"/>
                <a:ea typeface="Poppins SemiBold"/>
                <a:cs typeface="Poppins SemiBold"/>
                <a:sym typeface="Poppins SemiBold"/>
              </a:rPr>
              <a:t>Data Description</a:t>
            </a:r>
            <a:endParaRPr kumimoji="0" lang="en-US" sz="1400" b="0" i="0" u="none" strike="noStrike" kern="0" cap="none" spc="0" normalizeH="0" baseline="0" noProof="0" dirty="0">
              <a:ln>
                <a:noFill/>
              </a:ln>
              <a:solidFill>
                <a:schemeClr val="tx1"/>
              </a:solidFill>
              <a:effectLst/>
              <a:uLnTx/>
              <a:uFillTx/>
              <a:latin typeface="Arial"/>
              <a:ea typeface="Arial"/>
              <a:cs typeface="Arial"/>
              <a:sym typeface="Arial"/>
            </a:endParaRPr>
          </a:p>
        </p:txBody>
      </p:sp>
      <p:sp>
        <p:nvSpPr>
          <p:cNvPr id="92" name="Google Shape;92;p14">
            <a:extLst>
              <a:ext uri="{C183D7F6-B498-43B3-948B-1728B52AA6E4}">
                <adec:decorative xmlns:adec="http://schemas.microsoft.com/office/drawing/2017/decorative" val="1"/>
              </a:ext>
            </a:extLst>
          </p:cNvPr>
          <p:cNvSpPr/>
          <p:nvPr/>
        </p:nvSpPr>
        <p:spPr>
          <a:xfrm>
            <a:off x="571500" y="1475184"/>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tx1"/>
              </a:solidFill>
              <a:latin typeface="Calibri"/>
              <a:ea typeface="Calibri"/>
              <a:cs typeface="Calibri"/>
              <a:sym typeface="Calibri"/>
            </a:endParaRPr>
          </a:p>
        </p:txBody>
      </p:sp>
      <p:sp>
        <p:nvSpPr>
          <p:cNvPr id="93" name="Google Shape;93;p14"/>
          <p:cNvSpPr txBox="1"/>
          <p:nvPr/>
        </p:nvSpPr>
        <p:spPr>
          <a:xfrm>
            <a:off x="571500" y="1684734"/>
            <a:ext cx="56007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03DE1"/>
                </a:solidFill>
                <a:latin typeface="Poppins"/>
                <a:ea typeface="Poppins"/>
                <a:cs typeface="Poppins"/>
                <a:sym typeface="Poppins"/>
              </a:rPr>
              <a:t>The Data</a:t>
            </a:r>
            <a:endParaRPr dirty="0">
              <a:solidFill>
                <a:srgbClr val="003DE1"/>
              </a:solidFill>
            </a:endParaRPr>
          </a:p>
        </p:txBody>
      </p:sp>
      <p:sp>
        <p:nvSpPr>
          <p:cNvPr id="97" name="Google Shape;97;p14"/>
          <p:cNvSpPr txBox="1"/>
          <p:nvPr/>
        </p:nvSpPr>
        <p:spPr>
          <a:xfrm>
            <a:off x="838200" y="2246709"/>
            <a:ext cx="11430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chemeClr val="tx1"/>
                </a:solidFill>
                <a:latin typeface="Lato"/>
                <a:ea typeface="Lato"/>
                <a:cs typeface="Lato"/>
                <a:sym typeface="Lato"/>
              </a:rPr>
              <a:t>•</a:t>
            </a:r>
            <a:endParaRPr>
              <a:solidFill>
                <a:schemeClr val="tx1"/>
              </a:solidFill>
            </a:endParaRPr>
          </a:p>
        </p:txBody>
      </p:sp>
      <p:sp>
        <p:nvSpPr>
          <p:cNvPr id="98" name="Google Shape;98;p14"/>
          <p:cNvSpPr txBox="1"/>
          <p:nvPr/>
        </p:nvSpPr>
        <p:spPr>
          <a:xfrm>
            <a:off x="952500" y="2181607"/>
            <a:ext cx="4953000" cy="346249"/>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003DE1"/>
                </a:solidFill>
                <a:latin typeface="Lato"/>
                <a:ea typeface="Lato"/>
                <a:cs typeface="Lato"/>
                <a:sym typeface="Lato"/>
              </a:rPr>
              <a:t>S&amp;P 500:</a:t>
            </a:r>
            <a:r>
              <a:rPr lang="en-US" sz="1500" b="0" i="0" u="none" strike="noStrike" cap="none" dirty="0">
                <a:solidFill>
                  <a:srgbClr val="003DE1"/>
                </a:solidFill>
                <a:latin typeface="Lato"/>
                <a:ea typeface="Lato"/>
                <a:cs typeface="Lato"/>
                <a:sym typeface="Lato"/>
              </a:rPr>
              <a:t> </a:t>
            </a:r>
            <a:r>
              <a:rPr lang="en-US" sz="1500" b="0" i="0" u="none" strike="noStrike" cap="none" dirty="0">
                <a:solidFill>
                  <a:schemeClr val="tx1"/>
                </a:solidFill>
                <a:latin typeface="Lato"/>
                <a:ea typeface="Lato"/>
                <a:cs typeface="Lato"/>
                <a:sym typeface="Lato"/>
              </a:rPr>
              <a:t>Monthly Log Returns.</a:t>
            </a:r>
            <a:endParaRPr dirty="0">
              <a:solidFill>
                <a:schemeClr val="tx1"/>
              </a:solidFill>
            </a:endParaRPr>
          </a:p>
        </p:txBody>
      </p:sp>
      <p:sp>
        <p:nvSpPr>
          <p:cNvPr id="99" name="Google Shape;99;p14"/>
          <p:cNvSpPr txBox="1"/>
          <p:nvPr/>
        </p:nvSpPr>
        <p:spPr>
          <a:xfrm>
            <a:off x="836858" y="2609658"/>
            <a:ext cx="231283"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chemeClr val="tx1"/>
                </a:solidFill>
                <a:latin typeface="Lato"/>
                <a:ea typeface="Lato"/>
                <a:cs typeface="Lato"/>
                <a:sym typeface="Lato"/>
              </a:rPr>
              <a:t>•</a:t>
            </a:r>
            <a:endParaRPr dirty="0">
              <a:solidFill>
                <a:schemeClr val="tx1"/>
              </a:solidFill>
            </a:endParaRPr>
          </a:p>
        </p:txBody>
      </p:sp>
      <p:sp>
        <p:nvSpPr>
          <p:cNvPr id="100" name="Google Shape;100;p14"/>
          <p:cNvSpPr txBox="1"/>
          <p:nvPr/>
        </p:nvSpPr>
        <p:spPr>
          <a:xfrm>
            <a:off x="952500" y="2532459"/>
            <a:ext cx="4953000" cy="346249"/>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003DE1"/>
                </a:solidFill>
                <a:latin typeface="Lato"/>
                <a:ea typeface="Lato"/>
                <a:cs typeface="Lato"/>
                <a:sym typeface="Lato"/>
              </a:rPr>
              <a:t>VIX Index:</a:t>
            </a:r>
            <a:r>
              <a:rPr lang="en-US" sz="1500" b="0" i="0" u="none" strike="noStrike" cap="none" dirty="0">
                <a:solidFill>
                  <a:srgbClr val="003DE1"/>
                </a:solidFill>
                <a:latin typeface="Lato"/>
                <a:ea typeface="Lato"/>
                <a:cs typeface="Lato"/>
                <a:sym typeface="Lato"/>
              </a:rPr>
              <a:t> </a:t>
            </a:r>
            <a:r>
              <a:rPr lang="en-US" sz="1500" b="0" i="0" u="none" strike="noStrike" cap="none" dirty="0">
                <a:solidFill>
                  <a:schemeClr val="tx1"/>
                </a:solidFill>
                <a:latin typeface="Lato"/>
                <a:ea typeface="Lato"/>
                <a:cs typeface="Lato"/>
                <a:sym typeface="Lato"/>
              </a:rPr>
              <a:t>Monthly Level.</a:t>
            </a:r>
            <a:endParaRPr dirty="0">
              <a:solidFill>
                <a:schemeClr val="tx1"/>
              </a:solidFill>
            </a:endParaRPr>
          </a:p>
        </p:txBody>
      </p:sp>
      <p:sp>
        <p:nvSpPr>
          <p:cNvPr id="101" name="Google Shape;101;p14"/>
          <p:cNvSpPr txBox="1"/>
          <p:nvPr/>
        </p:nvSpPr>
        <p:spPr>
          <a:xfrm>
            <a:off x="838200" y="3211699"/>
            <a:ext cx="406706"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chemeClr val="tx1"/>
                </a:solidFill>
                <a:latin typeface="Lato"/>
                <a:ea typeface="Lato"/>
                <a:cs typeface="Lato"/>
                <a:sym typeface="Lato"/>
              </a:rPr>
              <a:t>•</a:t>
            </a:r>
            <a:endParaRPr dirty="0">
              <a:solidFill>
                <a:schemeClr val="tx1"/>
              </a:solidFill>
            </a:endParaRPr>
          </a:p>
        </p:txBody>
      </p:sp>
      <p:sp>
        <p:nvSpPr>
          <p:cNvPr id="102" name="Google Shape;102;p14"/>
          <p:cNvSpPr txBox="1"/>
          <p:nvPr/>
        </p:nvSpPr>
        <p:spPr>
          <a:xfrm>
            <a:off x="957549" y="3156781"/>
            <a:ext cx="4953000" cy="346249"/>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003DE1"/>
                </a:solidFill>
                <a:latin typeface="Lato"/>
                <a:ea typeface="Lato"/>
                <a:cs typeface="Lato"/>
                <a:sym typeface="Lato"/>
              </a:rPr>
              <a:t>CPIAUCSL:</a:t>
            </a:r>
            <a:r>
              <a:rPr lang="en-US" sz="1500" b="0" i="0" u="none" strike="noStrike" cap="none" dirty="0">
                <a:solidFill>
                  <a:srgbClr val="003DE1"/>
                </a:solidFill>
                <a:latin typeface="Lato"/>
                <a:ea typeface="Lato"/>
                <a:cs typeface="Lato"/>
                <a:sym typeface="Lato"/>
              </a:rPr>
              <a:t> </a:t>
            </a:r>
            <a:r>
              <a:rPr lang="en-US" sz="1500" b="0" i="0" u="none" strike="noStrike" cap="none" dirty="0">
                <a:solidFill>
                  <a:schemeClr val="tx1"/>
                </a:solidFill>
                <a:latin typeface="Lato"/>
                <a:ea typeface="Lato"/>
                <a:cs typeface="Lato"/>
                <a:sym typeface="Lato"/>
              </a:rPr>
              <a:t>Monthly change in consumer prices.</a:t>
            </a:r>
            <a:endParaRPr dirty="0">
              <a:solidFill>
                <a:schemeClr val="tx1"/>
              </a:solidFill>
            </a:endParaRPr>
          </a:p>
        </p:txBody>
      </p:sp>
      <p:sp>
        <p:nvSpPr>
          <p:cNvPr id="2" name="Google Shape;100;p14">
            <a:extLst>
              <a:ext uri="{FF2B5EF4-FFF2-40B4-BE49-F238E27FC236}">
                <a16:creationId xmlns:a16="http://schemas.microsoft.com/office/drawing/2014/main" id="{8912E7D3-B447-1C7A-5D15-37D72F3FF3BA}"/>
              </a:ext>
            </a:extLst>
          </p:cNvPr>
          <p:cNvSpPr txBox="1"/>
          <p:nvPr/>
        </p:nvSpPr>
        <p:spPr>
          <a:xfrm>
            <a:off x="5546419" y="2400900"/>
            <a:ext cx="4953000" cy="323165"/>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dirty="0">
                <a:solidFill>
                  <a:schemeClr val="tx1"/>
                </a:solidFill>
                <a:latin typeface="Lato" panose="020F0502020204030203" pitchFamily="34" charset="0"/>
                <a:ea typeface="Lato" panose="020F0502020204030203" pitchFamily="34" charset="0"/>
                <a:cs typeface="Lato" panose="020F0502020204030203" pitchFamily="34" charset="0"/>
              </a:rPr>
              <a:t>From Yahoo Finance </a:t>
            </a:r>
            <a:endParaRPr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3" name="Google Shape;100;p14">
            <a:extLst>
              <a:ext uri="{FF2B5EF4-FFF2-40B4-BE49-F238E27FC236}">
                <a16:creationId xmlns:a16="http://schemas.microsoft.com/office/drawing/2014/main" id="{8A0462BA-A21D-5326-AC88-F33CA1863984}"/>
              </a:ext>
            </a:extLst>
          </p:cNvPr>
          <p:cNvSpPr txBox="1"/>
          <p:nvPr/>
        </p:nvSpPr>
        <p:spPr>
          <a:xfrm>
            <a:off x="5546419" y="3165987"/>
            <a:ext cx="4953000" cy="323165"/>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dirty="0">
                <a:solidFill>
                  <a:schemeClr val="tx1"/>
                </a:solidFill>
                <a:latin typeface="Lato" panose="020F0502020204030203" pitchFamily="34" charset="0"/>
                <a:ea typeface="Lato" panose="020F0502020204030203" pitchFamily="34" charset="0"/>
                <a:cs typeface="Lato" panose="020F0502020204030203" pitchFamily="34" charset="0"/>
              </a:rPr>
              <a:t>From FRED </a:t>
            </a:r>
            <a:endParaRPr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4" name="Google Shape;102;p14">
            <a:extLst>
              <a:ext uri="{FF2B5EF4-FFF2-40B4-BE49-F238E27FC236}">
                <a16:creationId xmlns:a16="http://schemas.microsoft.com/office/drawing/2014/main" id="{EC94006E-9AEA-7868-F6A9-85639CEDE61A}"/>
              </a:ext>
            </a:extLst>
          </p:cNvPr>
          <p:cNvSpPr txBox="1"/>
          <p:nvPr/>
        </p:nvSpPr>
        <p:spPr>
          <a:xfrm>
            <a:off x="952500" y="3728737"/>
            <a:ext cx="4953000" cy="346249"/>
          </a:xfrm>
          <a:prstGeom prst="rect">
            <a:avLst/>
          </a:prstGeom>
          <a:noFill/>
          <a:ln>
            <a:noFill/>
          </a:ln>
        </p:spPr>
        <p:txBody>
          <a:bodyPr spcFirstLastPara="1" wrap="square" lIns="114300" tIns="0" rIns="0" bIns="0" anchor="t" anchorCtr="0">
            <a:spAutoFit/>
          </a:bodyPr>
          <a:lstStyle/>
          <a:p>
            <a:pPr lvl="0">
              <a:lnSpc>
                <a:spcPct val="150000"/>
              </a:lnSpc>
            </a:pPr>
            <a:r>
              <a:rPr lang="en-US" sz="1500" b="1" dirty="0">
                <a:solidFill>
                  <a:srgbClr val="003DE1"/>
                </a:solidFill>
                <a:latin typeface="Lato"/>
                <a:ea typeface="Lato"/>
                <a:cs typeface="Lato"/>
                <a:sym typeface="Lato"/>
              </a:rPr>
              <a:t>168 Data Points </a:t>
            </a:r>
            <a:r>
              <a:rPr lang="en-US" dirty="0"/>
              <a:t>Monthly from 2010 to 2023</a:t>
            </a:r>
            <a:endParaRPr dirty="0">
              <a:solidFill>
                <a:schemeClr val="tx1"/>
              </a:solidFill>
            </a:endParaRPr>
          </a:p>
        </p:txBody>
      </p:sp>
      <p:sp>
        <p:nvSpPr>
          <p:cNvPr id="5" name="Google Shape;101;p14">
            <a:extLst>
              <a:ext uri="{FF2B5EF4-FFF2-40B4-BE49-F238E27FC236}">
                <a16:creationId xmlns:a16="http://schemas.microsoft.com/office/drawing/2014/main" id="{1BC307CE-12C1-38E6-83C1-7EE2F9E34A31}"/>
              </a:ext>
            </a:extLst>
          </p:cNvPr>
          <p:cNvSpPr txBox="1"/>
          <p:nvPr/>
        </p:nvSpPr>
        <p:spPr>
          <a:xfrm>
            <a:off x="838200" y="3789236"/>
            <a:ext cx="406706"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chemeClr val="tx1"/>
                </a:solidFill>
                <a:latin typeface="Lato"/>
                <a:ea typeface="Lato"/>
                <a:cs typeface="Lato"/>
                <a:sym typeface="Lato"/>
              </a:rPr>
              <a:t>•</a:t>
            </a:r>
            <a:endParaRPr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a:extLst>
            <a:ext uri="{FF2B5EF4-FFF2-40B4-BE49-F238E27FC236}">
              <a16:creationId xmlns:a16="http://schemas.microsoft.com/office/drawing/2014/main" id="{81EA24E3-4FC3-E700-E452-CFABEBF5EB71}"/>
            </a:ext>
          </a:extLst>
        </p:cNvPr>
        <p:cNvGrpSpPr/>
        <p:nvPr/>
      </p:nvGrpSpPr>
      <p:grpSpPr>
        <a:xfrm>
          <a:off x="0" y="0"/>
          <a:ext cx="0" cy="0"/>
          <a:chOff x="0" y="0"/>
          <a:chExt cx="0" cy="0"/>
        </a:xfrm>
      </p:grpSpPr>
      <p:sp>
        <p:nvSpPr>
          <p:cNvPr id="108" name="Google Shape;108;p15">
            <a:extLst>
              <a:ext uri="{FF2B5EF4-FFF2-40B4-BE49-F238E27FC236}">
                <a16:creationId xmlns:a16="http://schemas.microsoft.com/office/drawing/2014/main" id="{88F57D36-3B2E-74CE-68A7-8564CE268FE6}"/>
              </a:ext>
            </a:extLst>
          </p:cNvPr>
          <p:cNvSpPr txBox="1">
            <a:spLocks noGrp="1"/>
          </p:cNvSpPr>
          <p:nvPr>
            <p:ph type="title" idx="4294967295"/>
          </p:nvPr>
        </p:nvSpPr>
        <p:spPr>
          <a:xfrm>
            <a:off x="571500" y="332184"/>
            <a:ext cx="11601450" cy="415498"/>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0" i="0" u="none" strike="noStrike" kern="0" cap="none" spc="0" normalizeH="0" baseline="0" noProof="0" dirty="0">
                <a:ln>
                  <a:noFill/>
                </a:ln>
                <a:solidFill>
                  <a:srgbClr val="0F172A"/>
                </a:solidFill>
                <a:effectLst/>
                <a:uLnTx/>
                <a:uFillTx/>
                <a:latin typeface="Poppins SemiBold"/>
                <a:ea typeface="Poppins SemiBold"/>
                <a:cs typeface="Poppins SemiBold"/>
                <a:sym typeface="Poppins SemiBold"/>
              </a:rPr>
              <a:t>Raw Time Series Data (2010–2023)</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09" name="Google Shape;109;p15">
            <a:extLst>
              <a:ext uri="{FF2B5EF4-FFF2-40B4-BE49-F238E27FC236}">
                <a16:creationId xmlns:a16="http://schemas.microsoft.com/office/drawing/2014/main" id="{D5BF9A53-9D75-EF1F-3618-544CC5531CE0}"/>
              </a:ext>
              <a:ext uri="{C183D7F6-B498-43B3-948B-1728B52AA6E4}">
                <adec:decorative xmlns:adec="http://schemas.microsoft.com/office/drawing/2017/decorative" val="1"/>
              </a:ext>
            </a:extLst>
          </p:cNvPr>
          <p:cNvSpPr/>
          <p:nvPr/>
        </p:nvSpPr>
        <p:spPr>
          <a:xfrm>
            <a:off x="571500" y="875109"/>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a:extLst>
              <a:ext uri="{FF2B5EF4-FFF2-40B4-BE49-F238E27FC236}">
                <a16:creationId xmlns:a16="http://schemas.microsoft.com/office/drawing/2014/main" id="{1A334D69-FC63-785F-6487-A60B7B79219C}"/>
              </a:ext>
            </a:extLst>
          </p:cNvPr>
          <p:cNvSpPr txBox="1"/>
          <p:nvPr/>
        </p:nvSpPr>
        <p:spPr>
          <a:xfrm>
            <a:off x="571500" y="6240066"/>
            <a:ext cx="110490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1" u="none" strike="noStrike" cap="none" dirty="0">
                <a:solidFill>
                  <a:srgbClr val="475569"/>
                </a:solidFill>
                <a:latin typeface="Lato"/>
                <a:ea typeface="Lato"/>
                <a:cs typeface="Lato"/>
                <a:sym typeface="Lato"/>
              </a:rPr>
              <a:t>Visualizing raw trends and major shocks over the 13-year period.</a:t>
            </a:r>
            <a:endParaRPr dirty="0"/>
          </a:p>
        </p:txBody>
      </p:sp>
      <p:pic>
        <p:nvPicPr>
          <p:cNvPr id="3" name="Picture 2">
            <a:extLst>
              <a:ext uri="{FF2B5EF4-FFF2-40B4-BE49-F238E27FC236}">
                <a16:creationId xmlns:a16="http://schemas.microsoft.com/office/drawing/2014/main" id="{F66F3F89-40D1-FE49-7724-55504E9985D7}"/>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1318932" y="1021585"/>
            <a:ext cx="9554135" cy="5072003"/>
          </a:xfrm>
          <a:prstGeom prst="rect">
            <a:avLst/>
          </a:prstGeom>
        </p:spPr>
      </p:pic>
    </p:spTree>
    <p:extLst>
      <p:ext uri="{BB962C8B-B14F-4D97-AF65-F5344CB8AC3E}">
        <p14:creationId xmlns:p14="http://schemas.microsoft.com/office/powerpoint/2010/main" val="3424018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8" name="Google Shape;108;p15"/>
          <p:cNvSpPr txBox="1"/>
          <p:nvPr/>
        </p:nvSpPr>
        <p:spPr>
          <a:xfrm>
            <a:off x="571500" y="332184"/>
            <a:ext cx="1160145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0F172A"/>
                </a:solidFill>
                <a:latin typeface="Poppins SemiBold"/>
                <a:ea typeface="Poppins SemiBold"/>
                <a:cs typeface="Poppins SemiBold"/>
                <a:sym typeface="Poppins SemiBold"/>
              </a:rPr>
              <a:t>1. Time Series Data (2010–2023)</a:t>
            </a:r>
            <a:endParaRPr/>
          </a:p>
        </p:txBody>
      </p:sp>
      <p:sp>
        <p:nvSpPr>
          <p:cNvPr id="109" name="Google Shape;109;p15">
            <a:extLst>
              <a:ext uri="{C183D7F6-B498-43B3-948B-1728B52AA6E4}">
                <adec:decorative xmlns:adec="http://schemas.microsoft.com/office/drawing/2017/decorative" val="1"/>
              </a:ext>
            </a:extLst>
          </p:cNvPr>
          <p:cNvSpPr/>
          <p:nvPr/>
        </p:nvSpPr>
        <p:spPr>
          <a:xfrm>
            <a:off x="571500" y="875109"/>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p:cNvSpPr txBox="1">
            <a:spLocks noGrp="1"/>
          </p:cNvSpPr>
          <p:nvPr>
            <p:ph type="title" idx="4294967295"/>
          </p:nvPr>
        </p:nvSpPr>
        <p:spPr>
          <a:xfrm>
            <a:off x="571500" y="6240066"/>
            <a:ext cx="11049000" cy="346249"/>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500" b="0" i="1" u="none" strike="noStrike" kern="0" cap="none" spc="0" normalizeH="0" baseline="0" noProof="0" dirty="0">
                <a:ln>
                  <a:noFill/>
                </a:ln>
                <a:solidFill>
                  <a:srgbClr val="475569"/>
                </a:solidFill>
                <a:effectLst/>
                <a:uLnTx/>
                <a:uFillTx/>
                <a:latin typeface="Lato"/>
                <a:ea typeface="Lato"/>
                <a:cs typeface="Lato"/>
                <a:sym typeface="Lato"/>
              </a:rPr>
              <a:t>Visualizing log transformed data.</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Picture 2">
            <a:extLst>
              <a:ext uri="{FF2B5EF4-FFF2-40B4-BE49-F238E27FC236}">
                <a16:creationId xmlns:a16="http://schemas.microsoft.com/office/drawing/2014/main" id="{76A906C4-27F2-B927-EC14-B79BB92DBF6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318932" y="894159"/>
            <a:ext cx="9554135" cy="51861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4"/>
        <p:cNvGrpSpPr/>
        <p:nvPr/>
      </p:nvGrpSpPr>
      <p:grpSpPr>
        <a:xfrm>
          <a:off x="0" y="0"/>
          <a:ext cx="0" cy="0"/>
          <a:chOff x="0" y="0"/>
          <a:chExt cx="0" cy="0"/>
        </a:xfrm>
      </p:grpSpPr>
      <p:sp>
        <p:nvSpPr>
          <p:cNvPr id="116" name="Google Shape;116;p16"/>
          <p:cNvSpPr txBox="1">
            <a:spLocks noGrp="1"/>
          </p:cNvSpPr>
          <p:nvPr>
            <p:ph type="title" idx="4294967295"/>
          </p:nvPr>
        </p:nvSpPr>
        <p:spPr>
          <a:xfrm>
            <a:off x="590550" y="219075"/>
            <a:ext cx="11601450" cy="542925"/>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0" i="0" u="none" strike="noStrike" kern="0" cap="none" spc="0" normalizeH="0" baseline="0" noProof="0" dirty="0">
                <a:ln>
                  <a:noFill/>
                </a:ln>
                <a:solidFill>
                  <a:srgbClr val="0F172A"/>
                </a:solidFill>
                <a:effectLst/>
                <a:uLnTx/>
                <a:uFillTx/>
                <a:latin typeface="Poppins SemiBold"/>
                <a:ea typeface="Poppins SemiBold"/>
                <a:cs typeface="Poppins SemiBold"/>
                <a:sym typeface="Poppins SemiBold"/>
              </a:rPr>
              <a:t>2. Autocorrelations (ACF)</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Picture 2">
            <a:extLst>
              <a:ext uri="{FF2B5EF4-FFF2-40B4-BE49-F238E27FC236}">
                <a16:creationId xmlns:a16="http://schemas.microsoft.com/office/drawing/2014/main" id="{298DDD1D-053B-3196-E4BA-4CB0E4FE22A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209800" y="642152"/>
            <a:ext cx="7772400" cy="6361255"/>
          </a:xfrm>
          <a:prstGeom prst="rect">
            <a:avLst/>
          </a:prstGeom>
        </p:spPr>
      </p:pic>
      <p:sp>
        <p:nvSpPr>
          <p:cNvPr id="117" name="Google Shape;117;p16">
            <a:extLst>
              <a:ext uri="{C183D7F6-B498-43B3-948B-1728B52AA6E4}">
                <adec:decorative xmlns:adec="http://schemas.microsoft.com/office/drawing/2017/decorative" val="1"/>
              </a:ext>
            </a:extLst>
          </p:cNvPr>
          <p:cNvSpPr/>
          <p:nvPr/>
        </p:nvSpPr>
        <p:spPr>
          <a:xfrm>
            <a:off x="552450" y="706297"/>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4" name="Google Shape;124;p17"/>
          <p:cNvSpPr txBox="1"/>
          <p:nvPr/>
        </p:nvSpPr>
        <p:spPr>
          <a:xfrm>
            <a:off x="571500" y="219075"/>
            <a:ext cx="1160145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dirty="0">
                <a:solidFill>
                  <a:srgbClr val="0F172A"/>
                </a:solidFill>
                <a:latin typeface="Poppins SemiBold"/>
                <a:ea typeface="Poppins SemiBold"/>
                <a:cs typeface="Poppins SemiBold"/>
                <a:sym typeface="Poppins SemiBold"/>
              </a:rPr>
              <a:t>3. Cross-Correlations (CCF)</a:t>
            </a:r>
            <a:endParaRPr dirty="0"/>
          </a:p>
        </p:txBody>
      </p:sp>
      <p:sp>
        <p:nvSpPr>
          <p:cNvPr id="125" name="Google Shape;125;p17">
            <a:extLst>
              <a:ext uri="{C183D7F6-B498-43B3-948B-1728B52AA6E4}">
                <adec:decorative xmlns:adec="http://schemas.microsoft.com/office/drawing/2017/decorative" val="1"/>
              </a:ext>
            </a:extLst>
          </p:cNvPr>
          <p:cNvSpPr/>
          <p:nvPr/>
        </p:nvSpPr>
        <p:spPr>
          <a:xfrm>
            <a:off x="571500" y="659936"/>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4F8BE3C1-6B3E-6BA3-C2DD-97E2EF605F0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13452" y="762000"/>
            <a:ext cx="8917546" cy="8218131"/>
          </a:xfrm>
          <a:prstGeom prst="rect">
            <a:avLst/>
          </a:prstGeom>
        </p:spPr>
      </p:pic>
      <p:sp>
        <p:nvSpPr>
          <p:cNvPr id="126" name="Google Shape;126;p17"/>
          <p:cNvSpPr txBox="1">
            <a:spLocks noGrp="1"/>
          </p:cNvSpPr>
          <p:nvPr>
            <p:ph type="title" idx="4294967295"/>
          </p:nvPr>
        </p:nvSpPr>
        <p:spPr>
          <a:xfrm>
            <a:off x="571500" y="6198064"/>
            <a:ext cx="11049000" cy="28575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475569"/>
                </a:solidFill>
                <a:effectLst/>
                <a:uLnTx/>
                <a:uFillTx/>
                <a:latin typeface="Lato"/>
                <a:ea typeface="Lato"/>
                <a:cs typeface="Lato"/>
                <a:sym typeface="Lato"/>
              </a:rPr>
              <a:t>Look for the negative spike at Lag 0 between VIX and Market Returns.</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sp>
        <p:nvSpPr>
          <p:cNvPr id="132" name="Google Shape;132;p18"/>
          <p:cNvSpPr txBox="1"/>
          <p:nvPr/>
        </p:nvSpPr>
        <p:spPr>
          <a:xfrm>
            <a:off x="571500" y="171794"/>
            <a:ext cx="1160145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dirty="0">
                <a:solidFill>
                  <a:srgbClr val="0F172A"/>
                </a:solidFill>
                <a:latin typeface="Poppins SemiBold"/>
                <a:ea typeface="Poppins SemiBold"/>
                <a:cs typeface="Poppins SemiBold"/>
                <a:sym typeface="Poppins SemiBold"/>
              </a:rPr>
              <a:t>4. Spectral Analysis (Periodograms)</a:t>
            </a:r>
            <a:endParaRPr dirty="0"/>
          </a:p>
        </p:txBody>
      </p:sp>
      <p:pic>
        <p:nvPicPr>
          <p:cNvPr id="3" name="Picture 2">
            <a:extLst>
              <a:ext uri="{FF2B5EF4-FFF2-40B4-BE49-F238E27FC236}">
                <a16:creationId xmlns:a16="http://schemas.microsoft.com/office/drawing/2014/main" id="{F7D06CB4-3375-35F0-F266-A2D3E7C2B13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11703" y="600075"/>
            <a:ext cx="7782291" cy="6181725"/>
          </a:xfrm>
          <a:prstGeom prst="rect">
            <a:avLst/>
          </a:prstGeom>
        </p:spPr>
      </p:pic>
      <p:sp>
        <p:nvSpPr>
          <p:cNvPr id="134" name="Google Shape;134;p18"/>
          <p:cNvSpPr txBox="1">
            <a:spLocks noGrp="1"/>
          </p:cNvSpPr>
          <p:nvPr>
            <p:ph type="title" idx="4294967295"/>
          </p:nvPr>
        </p:nvSpPr>
        <p:spPr>
          <a:xfrm>
            <a:off x="126921" y="6496050"/>
            <a:ext cx="11049000" cy="28575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475569"/>
                </a:solidFill>
                <a:effectLst/>
                <a:uLnTx/>
                <a:uFillTx/>
                <a:latin typeface="Lato"/>
                <a:ea typeface="Lato"/>
                <a:cs typeface="Lato"/>
                <a:sym typeface="Lato"/>
              </a:rPr>
              <a:t>This shows the dominant cycles (frequencies) for each variable.</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33" name="Google Shape;133;p18">
            <a:extLst>
              <a:ext uri="{C183D7F6-B498-43B3-948B-1728B52AA6E4}">
                <adec:decorative xmlns:adec="http://schemas.microsoft.com/office/drawing/2017/decorative" val="1"/>
              </a:ext>
            </a:extLst>
          </p:cNvPr>
          <p:cNvSpPr/>
          <p:nvPr/>
        </p:nvSpPr>
        <p:spPr>
          <a:xfrm>
            <a:off x="571500" y="678455"/>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9" name="Google Shape;89;p13" descr="image.png"/>
          <p:cNvPicPr preferRelativeResize="0"/>
          <p:nvPr/>
        </p:nvPicPr>
        <p:blipFill rotWithShape="1">
          <a:blip r:embed="rId3">
            <a:alphaModFix/>
          </a:blip>
          <a:srcRect/>
          <a:stretch/>
        </p:blipFill>
        <p:spPr>
          <a:xfrm>
            <a:off x="866774" y="2179811"/>
            <a:ext cx="4933950" cy="529381"/>
          </a:xfrm>
          <a:prstGeom prst="rect">
            <a:avLst/>
          </a:prstGeom>
          <a:noFill/>
          <a:ln>
            <a:noFill/>
          </a:ln>
        </p:spPr>
      </p:pic>
      <p:pic>
        <p:nvPicPr>
          <p:cNvPr id="90" name="Google Shape;90;p13" descr="image.png"/>
          <p:cNvPicPr preferRelativeResize="0"/>
          <p:nvPr/>
        </p:nvPicPr>
        <p:blipFill rotWithShape="1">
          <a:blip r:embed="rId4">
            <a:alphaModFix/>
          </a:blip>
          <a:srcRect/>
          <a:stretch/>
        </p:blipFill>
        <p:spPr>
          <a:xfrm>
            <a:off x="6496049" y="2175048"/>
            <a:ext cx="4914900" cy="538906"/>
          </a:xfrm>
          <a:prstGeom prst="rect">
            <a:avLst/>
          </a:prstGeom>
          <a:noFill/>
          <a:ln>
            <a:noFill/>
          </a:ln>
        </p:spPr>
      </p:pic>
      <p:pic>
        <p:nvPicPr>
          <p:cNvPr id="91" name="Google Shape;91;p13" descr="image.png"/>
          <p:cNvPicPr preferRelativeResize="0"/>
          <p:nvPr/>
        </p:nvPicPr>
        <p:blipFill rotWithShape="1">
          <a:blip r:embed="rId5">
            <a:alphaModFix/>
          </a:blip>
          <a:srcRect/>
          <a:stretch/>
        </p:blipFill>
        <p:spPr>
          <a:xfrm>
            <a:off x="866774" y="4209380"/>
            <a:ext cx="4933950" cy="538906"/>
          </a:xfrm>
          <a:prstGeom prst="rect">
            <a:avLst/>
          </a:prstGeom>
          <a:noFill/>
          <a:ln>
            <a:noFill/>
          </a:ln>
        </p:spPr>
      </p:pic>
      <p:pic>
        <p:nvPicPr>
          <p:cNvPr id="92" name="Google Shape;92;p13" descr="image.png"/>
          <p:cNvPicPr preferRelativeResize="0"/>
          <p:nvPr/>
        </p:nvPicPr>
        <p:blipFill rotWithShape="1">
          <a:blip r:embed="rId6">
            <a:alphaModFix/>
          </a:blip>
          <a:srcRect/>
          <a:stretch/>
        </p:blipFill>
        <p:spPr>
          <a:xfrm>
            <a:off x="6486524" y="4237955"/>
            <a:ext cx="4933950" cy="481756"/>
          </a:xfrm>
          <a:prstGeom prst="rect">
            <a:avLst/>
          </a:prstGeom>
          <a:noFill/>
          <a:ln>
            <a:noFill/>
          </a:ln>
        </p:spPr>
      </p:pic>
      <p:sp>
        <p:nvSpPr>
          <p:cNvPr id="93" name="Google Shape;93;p13"/>
          <p:cNvSpPr txBox="1"/>
          <p:nvPr/>
        </p:nvSpPr>
        <p:spPr>
          <a:xfrm>
            <a:off x="642937" y="294976"/>
            <a:ext cx="11048047"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rgbClr val="0F172A"/>
                </a:solidFill>
                <a:latin typeface="Poppins SemiBold"/>
                <a:ea typeface="Poppins SemiBold"/>
                <a:cs typeface="Poppins SemiBold"/>
                <a:sym typeface="Poppins SemiBold"/>
              </a:rPr>
              <a:t>Model Specifications</a:t>
            </a:r>
            <a:endParaRPr dirty="0"/>
          </a:p>
        </p:txBody>
      </p:sp>
      <p:sp>
        <p:nvSpPr>
          <p:cNvPr id="94" name="Google Shape;94;p13"/>
          <p:cNvSpPr/>
          <p:nvPr/>
        </p:nvSpPr>
        <p:spPr>
          <a:xfrm>
            <a:off x="642937" y="847426"/>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3"/>
          <p:cNvSpPr txBox="1"/>
          <p:nvPr/>
        </p:nvSpPr>
        <p:spPr>
          <a:xfrm>
            <a:off x="771525" y="5600106"/>
            <a:ext cx="2555081" cy="1866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yt</a:t>
            </a:r>
            <a:r>
              <a:rPr lang="en-US" sz="975" b="0" i="0" u="none" strike="noStrike" cap="none">
                <a:solidFill>
                  <a:srgbClr val="475569"/>
                </a:solidFill>
                <a:latin typeface="Lato"/>
                <a:ea typeface="Lato"/>
                <a:cs typeface="Lato"/>
                <a:sym typeface="Lato"/>
              </a:rPr>
              <a:t>: S&amp;P 500 Log Returns</a:t>
            </a:r>
            <a:endParaRPr/>
          </a:p>
        </p:txBody>
      </p:sp>
      <p:sp>
        <p:nvSpPr>
          <p:cNvPr id="96" name="Google Shape;96;p13"/>
          <p:cNvSpPr txBox="1"/>
          <p:nvPr/>
        </p:nvSpPr>
        <p:spPr>
          <a:xfrm>
            <a:off x="3469481" y="5600106"/>
            <a:ext cx="2555081" cy="1866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Yt</a:t>
            </a:r>
            <a:r>
              <a:rPr lang="en-US" sz="975" b="0" i="0" u="none" strike="noStrike" cap="none">
                <a:solidFill>
                  <a:srgbClr val="475569"/>
                </a:solidFill>
                <a:latin typeface="Lato"/>
                <a:ea typeface="Lato"/>
                <a:cs typeface="Lato"/>
                <a:sym typeface="Lato"/>
              </a:rPr>
              <a:t>: Vector [SP500, VIX, INF]</a:t>
            </a:r>
            <a:endParaRPr/>
          </a:p>
        </p:txBody>
      </p:sp>
      <p:sp>
        <p:nvSpPr>
          <p:cNvPr id="97" name="Google Shape;97;p13"/>
          <p:cNvSpPr txBox="1"/>
          <p:nvPr/>
        </p:nvSpPr>
        <p:spPr>
          <a:xfrm>
            <a:off x="6167437" y="5600106"/>
            <a:ext cx="2555081" cy="1866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β1,2</a:t>
            </a:r>
            <a:r>
              <a:rPr lang="en-US" sz="975" b="0" i="0" u="none" strike="noStrike" cap="none">
                <a:solidFill>
                  <a:srgbClr val="475569"/>
                </a:solidFill>
                <a:latin typeface="Lato"/>
                <a:ea typeface="Lato"/>
                <a:cs typeface="Lato"/>
                <a:sym typeface="Lato"/>
              </a:rPr>
              <a:t>: VIX &amp; Inflation Coefficients</a:t>
            </a:r>
            <a:endParaRPr/>
          </a:p>
        </p:txBody>
      </p:sp>
      <p:sp>
        <p:nvSpPr>
          <p:cNvPr id="98" name="Google Shape;98;p13"/>
          <p:cNvSpPr txBox="1"/>
          <p:nvPr/>
        </p:nvSpPr>
        <p:spPr>
          <a:xfrm>
            <a:off x="8865393" y="5600106"/>
            <a:ext cx="2555081" cy="1866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ε / E</a:t>
            </a:r>
            <a:r>
              <a:rPr lang="en-US" sz="975" b="0" i="0" u="none" strike="noStrike" cap="none">
                <a:solidFill>
                  <a:srgbClr val="475569"/>
                </a:solidFill>
                <a:latin typeface="Lato"/>
                <a:ea typeface="Lato"/>
                <a:cs typeface="Lato"/>
                <a:sym typeface="Lato"/>
              </a:rPr>
              <a:t>: Residual Error terms</a:t>
            </a:r>
            <a:endParaRPr/>
          </a:p>
        </p:txBody>
      </p:sp>
      <p:sp>
        <p:nvSpPr>
          <p:cNvPr id="99" name="Google Shape;99;p13"/>
          <p:cNvSpPr txBox="1"/>
          <p:nvPr/>
        </p:nvSpPr>
        <p:spPr>
          <a:xfrm>
            <a:off x="771525" y="5929611"/>
            <a:ext cx="2555081"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ARMA</a:t>
            </a:r>
            <a:r>
              <a:rPr lang="en-US" sz="975" b="0" i="0" u="none" strike="noStrike" cap="none">
                <a:solidFill>
                  <a:srgbClr val="475569"/>
                </a:solidFill>
                <a:latin typeface="Lato"/>
                <a:ea typeface="Lato"/>
                <a:cs typeface="Lato"/>
                <a:sym typeface="Lato"/>
              </a:rPr>
              <a:t>: AR and MA components</a:t>
            </a:r>
            <a:endParaRPr/>
          </a:p>
        </p:txBody>
      </p:sp>
      <p:sp>
        <p:nvSpPr>
          <p:cNvPr id="100" name="Google Shape;100;p13"/>
          <p:cNvSpPr txBox="1"/>
          <p:nvPr/>
        </p:nvSpPr>
        <p:spPr>
          <a:xfrm>
            <a:off x="3469481" y="5929611"/>
            <a:ext cx="2555081"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t-1</a:t>
            </a:r>
            <a:r>
              <a:rPr lang="en-US" sz="975" b="0" i="0" u="none" strike="noStrike" cap="none">
                <a:solidFill>
                  <a:srgbClr val="475569"/>
                </a:solidFill>
                <a:latin typeface="Lato"/>
                <a:ea typeface="Lato"/>
                <a:cs typeface="Lato"/>
                <a:sym typeface="Lato"/>
              </a:rPr>
              <a:t>: One-month Lagged data</a:t>
            </a:r>
            <a:endParaRPr/>
          </a:p>
        </p:txBody>
      </p:sp>
      <p:sp>
        <p:nvSpPr>
          <p:cNvPr id="101" name="Google Shape;101;p13"/>
          <p:cNvSpPr txBox="1"/>
          <p:nvPr/>
        </p:nvSpPr>
        <p:spPr>
          <a:xfrm>
            <a:off x="6167437" y="5929611"/>
            <a:ext cx="2555081"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C</a:t>
            </a:r>
            <a:r>
              <a:rPr lang="en-US" sz="975" b="0" i="0" u="none" strike="noStrike" cap="none">
                <a:solidFill>
                  <a:srgbClr val="475569"/>
                </a:solidFill>
                <a:latin typeface="Lato"/>
                <a:ea typeface="Lato"/>
                <a:cs typeface="Lato"/>
                <a:sym typeface="Lato"/>
              </a:rPr>
              <a:t>: Constant Vector</a:t>
            </a:r>
            <a:endParaRPr/>
          </a:p>
        </p:txBody>
      </p:sp>
      <p:sp>
        <p:nvSpPr>
          <p:cNvPr id="102" name="Google Shape;102;p13"/>
          <p:cNvSpPr txBox="1"/>
          <p:nvPr/>
        </p:nvSpPr>
        <p:spPr>
          <a:xfrm>
            <a:off x="8865393" y="5929611"/>
            <a:ext cx="2555081"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F172A"/>
                </a:solidFill>
                <a:latin typeface="Lato"/>
                <a:ea typeface="Lato"/>
                <a:cs typeface="Lato"/>
                <a:sym typeface="Lato"/>
              </a:rPr>
              <a:t>AIC</a:t>
            </a:r>
            <a:r>
              <a:rPr lang="en-US" sz="975" b="0" i="0" u="none" strike="noStrike" cap="none">
                <a:solidFill>
                  <a:srgbClr val="475569"/>
                </a:solidFill>
                <a:latin typeface="Lato"/>
                <a:ea typeface="Lato"/>
                <a:cs typeface="Lato"/>
                <a:sym typeface="Lato"/>
              </a:rPr>
              <a:t>: Grading metric (Lower = Better)</a:t>
            </a:r>
            <a:endParaRPr/>
          </a:p>
        </p:txBody>
      </p:sp>
      <p:sp>
        <p:nvSpPr>
          <p:cNvPr id="103" name="Google Shape;103;p13"/>
          <p:cNvSpPr txBox="1"/>
          <p:nvPr/>
        </p:nvSpPr>
        <p:spPr>
          <a:xfrm>
            <a:off x="866774" y="1389236"/>
            <a:ext cx="5180647" cy="2571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50" b="1" i="0" u="none" strike="noStrike" cap="none">
                <a:solidFill>
                  <a:srgbClr val="2563EB"/>
                </a:solidFill>
                <a:latin typeface="Poppins"/>
                <a:ea typeface="Poppins"/>
                <a:cs typeface="Poppins"/>
                <a:sym typeface="Poppins"/>
              </a:rPr>
              <a:t>1. BASELINE ARIMA</a:t>
            </a:r>
            <a:endParaRPr/>
          </a:p>
        </p:txBody>
      </p:sp>
      <p:sp>
        <p:nvSpPr>
          <p:cNvPr id="104" name="Google Shape;104;p13"/>
          <p:cNvSpPr txBox="1"/>
          <p:nvPr/>
        </p:nvSpPr>
        <p:spPr>
          <a:xfrm>
            <a:off x="866774" y="1865486"/>
            <a:ext cx="493395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64748B"/>
                </a:solidFill>
                <a:latin typeface="Lato"/>
                <a:ea typeface="Lato"/>
                <a:cs typeface="Lato"/>
                <a:sym typeface="Lato"/>
              </a:rPr>
              <a:t>Univariate benchmark focusing strictly on the market's own history.</a:t>
            </a:r>
            <a:endParaRPr/>
          </a:p>
        </p:txBody>
      </p:sp>
      <p:sp>
        <p:nvSpPr>
          <p:cNvPr id="105" name="Google Shape;105;p13"/>
          <p:cNvSpPr txBox="1"/>
          <p:nvPr/>
        </p:nvSpPr>
        <p:spPr>
          <a:xfrm>
            <a:off x="6496049" y="1384473"/>
            <a:ext cx="5160645" cy="2571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50" b="1" i="0" u="none" strike="noStrike" cap="none">
                <a:solidFill>
                  <a:srgbClr val="2563EB"/>
                </a:solidFill>
                <a:latin typeface="Poppins"/>
                <a:ea typeface="Poppins"/>
                <a:cs typeface="Poppins"/>
                <a:sym typeface="Poppins"/>
              </a:rPr>
              <a:t>2. CONTEMPORANEOUS SARIMAX</a:t>
            </a:r>
            <a:endParaRPr/>
          </a:p>
        </p:txBody>
      </p:sp>
      <p:sp>
        <p:nvSpPr>
          <p:cNvPr id="106" name="Google Shape;106;p13"/>
          <p:cNvSpPr txBox="1"/>
          <p:nvPr/>
        </p:nvSpPr>
        <p:spPr>
          <a:xfrm>
            <a:off x="6496049" y="1860723"/>
            <a:ext cx="491490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64748B"/>
                </a:solidFill>
                <a:latin typeface="Lato"/>
                <a:ea typeface="Lato"/>
                <a:cs typeface="Lato"/>
                <a:sym typeface="Lato"/>
              </a:rPr>
              <a:t>Best fit model capturing immediate market reactions to fear and inflation.</a:t>
            </a:r>
            <a:endParaRPr/>
          </a:p>
        </p:txBody>
      </p:sp>
      <p:sp>
        <p:nvSpPr>
          <p:cNvPr id="107" name="Google Shape;107;p13"/>
          <p:cNvSpPr txBox="1"/>
          <p:nvPr/>
        </p:nvSpPr>
        <p:spPr>
          <a:xfrm>
            <a:off x="866774" y="3418805"/>
            <a:ext cx="5180647" cy="2571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50" b="1" i="0" u="none" strike="noStrike" cap="none">
                <a:solidFill>
                  <a:srgbClr val="2563EB"/>
                </a:solidFill>
                <a:latin typeface="Poppins"/>
                <a:ea typeface="Poppins"/>
                <a:cs typeface="Poppins"/>
                <a:sym typeface="Poppins"/>
              </a:rPr>
              <a:t>3. LAGGED SARIMAX</a:t>
            </a:r>
            <a:endParaRPr/>
          </a:p>
        </p:txBody>
      </p:sp>
      <p:sp>
        <p:nvSpPr>
          <p:cNvPr id="108" name="Google Shape;108;p13"/>
          <p:cNvSpPr txBox="1"/>
          <p:nvPr/>
        </p:nvSpPr>
        <p:spPr>
          <a:xfrm>
            <a:off x="866774" y="3895055"/>
            <a:ext cx="493395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64748B"/>
                </a:solidFill>
                <a:latin typeface="Lato"/>
                <a:ea typeface="Lato"/>
                <a:cs typeface="Lato"/>
                <a:sym typeface="Lato"/>
              </a:rPr>
              <a:t>Tests for lead-lag effects to see if inputs act as leading indicators.</a:t>
            </a:r>
            <a:endParaRPr/>
          </a:p>
        </p:txBody>
      </p:sp>
      <p:sp>
        <p:nvSpPr>
          <p:cNvPr id="109" name="Google Shape;109;p13"/>
          <p:cNvSpPr txBox="1"/>
          <p:nvPr/>
        </p:nvSpPr>
        <p:spPr>
          <a:xfrm>
            <a:off x="6486524" y="3447380"/>
            <a:ext cx="5180647" cy="2571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50" b="1" i="0" u="none" strike="noStrike" cap="none">
                <a:solidFill>
                  <a:srgbClr val="2563EB"/>
                </a:solidFill>
                <a:latin typeface="Poppins"/>
                <a:ea typeface="Poppins"/>
                <a:cs typeface="Poppins"/>
                <a:sym typeface="Poppins"/>
              </a:rPr>
              <a:t>4. VECTOR AUTOREGRESSION (VAR)</a:t>
            </a:r>
            <a:endParaRPr/>
          </a:p>
        </p:txBody>
      </p:sp>
      <p:sp>
        <p:nvSpPr>
          <p:cNvPr id="110" name="Google Shape;110;p13"/>
          <p:cNvSpPr txBox="1"/>
          <p:nvPr/>
        </p:nvSpPr>
        <p:spPr>
          <a:xfrm>
            <a:off x="6486524" y="3923630"/>
            <a:ext cx="493395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64748B"/>
                </a:solidFill>
                <a:latin typeface="Lato"/>
                <a:ea typeface="Lato"/>
                <a:cs typeface="Lato"/>
                <a:sym typeface="Lato"/>
              </a:rPr>
              <a:t>Captures systemic feedback loops and shock ripples over time (p=4).</a:t>
            </a:r>
            <a:endParaRPr/>
          </a:p>
        </p:txBody>
      </p:sp>
      <p:pic>
        <p:nvPicPr>
          <p:cNvPr id="111" name="Google Shape;111;p13" descr="image.png"/>
          <p:cNvPicPr preferRelativeResize="0"/>
          <p:nvPr/>
        </p:nvPicPr>
        <p:blipFill rotWithShape="1">
          <a:blip r:embed="rId7">
            <a:alphaModFix/>
          </a:blip>
          <a:srcRect/>
          <a:stretch/>
        </p:blipFill>
        <p:spPr>
          <a:xfrm>
            <a:off x="1950242" y="2332211"/>
            <a:ext cx="2766863" cy="224581"/>
          </a:xfrm>
          <a:prstGeom prst="rect">
            <a:avLst/>
          </a:prstGeom>
          <a:noFill/>
          <a:ln>
            <a:noFill/>
          </a:ln>
        </p:spPr>
      </p:pic>
      <p:pic>
        <p:nvPicPr>
          <p:cNvPr id="113" name="Google Shape;113;p13" descr="image.png"/>
          <p:cNvPicPr preferRelativeResize="0"/>
          <p:nvPr/>
        </p:nvPicPr>
        <p:blipFill rotWithShape="1">
          <a:blip r:embed="rId8">
            <a:alphaModFix/>
          </a:blip>
          <a:srcRect/>
          <a:stretch/>
        </p:blipFill>
        <p:spPr>
          <a:xfrm>
            <a:off x="7476677" y="2327448"/>
            <a:ext cx="2953494" cy="234106"/>
          </a:xfrm>
          <a:prstGeom prst="rect">
            <a:avLst/>
          </a:prstGeom>
          <a:noFill/>
          <a:ln>
            <a:noFill/>
          </a:ln>
        </p:spPr>
      </p:pic>
      <p:pic>
        <p:nvPicPr>
          <p:cNvPr id="114" name="Google Shape;114;p13" descr="image.png"/>
          <p:cNvPicPr preferRelativeResize="0"/>
          <p:nvPr/>
        </p:nvPicPr>
        <p:blipFill rotWithShape="1">
          <a:blip r:embed="rId9">
            <a:alphaModFix/>
          </a:blip>
          <a:srcRect/>
          <a:stretch/>
        </p:blipFill>
        <p:spPr>
          <a:xfrm>
            <a:off x="1670445" y="4361780"/>
            <a:ext cx="3326457" cy="234106"/>
          </a:xfrm>
          <a:prstGeom prst="rect">
            <a:avLst/>
          </a:prstGeom>
          <a:noFill/>
          <a:ln>
            <a:noFill/>
          </a:ln>
        </p:spPr>
      </p:pic>
      <p:pic>
        <p:nvPicPr>
          <p:cNvPr id="115" name="Google Shape;115;p13" descr="image.png"/>
          <p:cNvPicPr preferRelativeResize="0"/>
          <p:nvPr/>
        </p:nvPicPr>
        <p:blipFill rotWithShape="1">
          <a:blip r:embed="rId10">
            <a:alphaModFix/>
          </a:blip>
          <a:srcRect/>
          <a:stretch/>
        </p:blipFill>
        <p:spPr>
          <a:xfrm>
            <a:off x="7386785" y="4390355"/>
            <a:ext cx="3133278" cy="1769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8">
          <a:extLst>
            <a:ext uri="{FF2B5EF4-FFF2-40B4-BE49-F238E27FC236}">
              <a16:creationId xmlns:a16="http://schemas.microsoft.com/office/drawing/2014/main" id="{FA085CFF-803A-9CAE-12D4-E7C1E40FAB4E}"/>
            </a:ext>
          </a:extLst>
        </p:cNvPr>
        <p:cNvGrpSpPr/>
        <p:nvPr/>
      </p:nvGrpSpPr>
      <p:grpSpPr>
        <a:xfrm>
          <a:off x="0" y="0"/>
          <a:ext cx="0" cy="0"/>
          <a:chOff x="0" y="0"/>
          <a:chExt cx="0" cy="0"/>
        </a:xfrm>
      </p:grpSpPr>
      <p:sp>
        <p:nvSpPr>
          <p:cNvPr id="139" name="Google Shape;139;p19">
            <a:extLst>
              <a:ext uri="{FF2B5EF4-FFF2-40B4-BE49-F238E27FC236}">
                <a16:creationId xmlns:a16="http://schemas.microsoft.com/office/drawing/2014/main" id="{ABF0D8F4-7C23-2130-0E5E-011257D898BA}"/>
              </a:ext>
            </a:extLst>
          </p:cNvPr>
          <p:cNvSpPr txBox="1"/>
          <p:nvPr/>
        </p:nvSpPr>
        <p:spPr>
          <a:xfrm>
            <a:off x="571500" y="168487"/>
            <a:ext cx="11048999"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dirty="0">
                <a:solidFill>
                  <a:srgbClr val="0F172A"/>
                </a:solidFill>
                <a:latin typeface="Poppins SemiBold"/>
                <a:ea typeface="Poppins SemiBold"/>
                <a:cs typeface="Poppins SemiBold"/>
                <a:sym typeface="Poppins SemiBold"/>
              </a:rPr>
              <a:t>5. Dynamic Model Comparison</a:t>
            </a:r>
            <a:endParaRPr dirty="0"/>
          </a:p>
        </p:txBody>
      </p:sp>
      <p:sp>
        <p:nvSpPr>
          <p:cNvPr id="140" name="Google Shape;140;p19">
            <a:extLst>
              <a:ext uri="{FF2B5EF4-FFF2-40B4-BE49-F238E27FC236}">
                <a16:creationId xmlns:a16="http://schemas.microsoft.com/office/drawing/2014/main" id="{D9374178-8E8B-7ABB-4C5A-899D9F376BAF}"/>
              </a:ext>
              <a:ext uri="{C183D7F6-B498-43B3-948B-1728B52AA6E4}">
                <adec:decorative xmlns:adec="http://schemas.microsoft.com/office/drawing/2017/decorative" val="1"/>
              </a:ext>
            </a:extLst>
          </p:cNvPr>
          <p:cNvSpPr/>
          <p:nvPr/>
        </p:nvSpPr>
        <p:spPr>
          <a:xfrm>
            <a:off x="571500" y="787612"/>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9">
            <a:extLst>
              <a:ext uri="{FF2B5EF4-FFF2-40B4-BE49-F238E27FC236}">
                <a16:creationId xmlns:a16="http://schemas.microsoft.com/office/drawing/2014/main" id="{8A839C51-C5F8-0262-87F5-10C80761DE86}"/>
              </a:ext>
            </a:extLst>
          </p:cNvPr>
          <p:cNvSpPr txBox="1">
            <a:spLocks noGrp="1"/>
          </p:cNvSpPr>
          <p:nvPr>
            <p:ph type="title" idx="4294967295"/>
          </p:nvPr>
        </p:nvSpPr>
        <p:spPr>
          <a:xfrm>
            <a:off x="571500" y="1187662"/>
            <a:ext cx="11049000" cy="285750"/>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475569"/>
                </a:solidFill>
                <a:effectLst/>
                <a:uLnTx/>
                <a:uFillTx/>
                <a:latin typeface="Lato"/>
                <a:ea typeface="Lato"/>
                <a:cs typeface="Lato"/>
                <a:sym typeface="Lato"/>
              </a:rPr>
              <a:t>Comparing different models to see what best explains the S&amp;P 500.</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aphicFrame>
        <p:nvGraphicFramePr>
          <p:cNvPr id="142" name="Google Shape;142;p19">
            <a:extLst>
              <a:ext uri="{FF2B5EF4-FFF2-40B4-BE49-F238E27FC236}">
                <a16:creationId xmlns:a16="http://schemas.microsoft.com/office/drawing/2014/main" id="{16E1C10A-F77A-9081-8186-BAB05BA1F165}"/>
              </a:ext>
            </a:extLst>
          </p:cNvPr>
          <p:cNvGraphicFramePr/>
          <p:nvPr>
            <p:extLst>
              <p:ext uri="{D42A27DB-BD31-4B8C-83A1-F6EECF244321}">
                <p14:modId xmlns:p14="http://schemas.microsoft.com/office/powerpoint/2010/main" val="478556647"/>
              </p:ext>
            </p:extLst>
          </p:nvPr>
        </p:nvGraphicFramePr>
        <p:xfrm>
          <a:off x="571500" y="1759162"/>
          <a:ext cx="11049000" cy="1914500"/>
        </p:xfrm>
        <a:graphic>
          <a:graphicData uri="http://schemas.openxmlformats.org/drawingml/2006/table">
            <a:tbl>
              <a:tblPr firstRow="1" bandRow="1">
                <a:noFill/>
                <a:tableStyleId>{040BB75A-6E55-42A8-BA1D-250CB0AA10F0}</a:tableStyleId>
              </a:tblPr>
              <a:tblGrid>
                <a:gridCol w="6456450">
                  <a:extLst>
                    <a:ext uri="{9D8B030D-6E8A-4147-A177-3AD203B41FA5}">
                      <a16:colId xmlns:a16="http://schemas.microsoft.com/office/drawing/2014/main" val="20000"/>
                    </a:ext>
                  </a:extLst>
                </a:gridCol>
                <a:gridCol w="2296125">
                  <a:extLst>
                    <a:ext uri="{9D8B030D-6E8A-4147-A177-3AD203B41FA5}">
                      <a16:colId xmlns:a16="http://schemas.microsoft.com/office/drawing/2014/main" val="20001"/>
                    </a:ext>
                  </a:extLst>
                </a:gridCol>
                <a:gridCol w="2296425">
                  <a:extLst>
                    <a:ext uri="{9D8B030D-6E8A-4147-A177-3AD203B41FA5}">
                      <a16:colId xmlns:a16="http://schemas.microsoft.com/office/drawing/2014/main" val="20002"/>
                    </a:ext>
                  </a:extLst>
                </a:gridCol>
              </a:tblGrid>
              <a:tr h="478625">
                <a:tc>
                  <a:txBody>
                    <a:bodyPr/>
                    <a:lstStyle/>
                    <a:p>
                      <a:pPr marL="0" marR="0" lvl="0" indent="0" algn="l" rtl="0">
                        <a:spcBef>
                          <a:spcPts val="0"/>
                        </a:spcBef>
                        <a:spcAft>
                          <a:spcPts val="0"/>
                        </a:spcAft>
                        <a:buNone/>
                      </a:pPr>
                      <a:r>
                        <a:rPr lang="en-US" sz="1200" b="1" i="0" u="none" strike="noStrike" cap="none">
                          <a:solidFill>
                            <a:srgbClr val="334155"/>
                          </a:solidFill>
                          <a:latin typeface="Lato"/>
                          <a:ea typeface="Lato"/>
                          <a:cs typeface="Lato"/>
                          <a:sym typeface="Lato"/>
                        </a:rPr>
                        <a:t>Model Type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200" b="1" i="0" u="none" strike="noStrike" cap="none">
                          <a:solidFill>
                            <a:srgbClr val="334155"/>
                          </a:solidFill>
                          <a:latin typeface="Lato"/>
                          <a:ea typeface="Lato"/>
                          <a:cs typeface="Lato"/>
                          <a:sym typeface="Lato"/>
                        </a:rPr>
                        <a:t>AIC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200" b="1" i="0" u="none" strike="noStrike" cap="none">
                          <a:solidFill>
                            <a:srgbClr val="334155"/>
                          </a:solidFill>
                          <a:latin typeface="Lato"/>
                          <a:ea typeface="Lato"/>
                          <a:cs typeface="Lato"/>
                          <a:sym typeface="Lato"/>
                        </a:rPr>
                        <a:t>BIC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478625">
                <a:tc>
                  <a:txBody>
                    <a:bodyPr/>
                    <a:lstStyle/>
                    <a:p>
                      <a:pPr marL="0" marR="0" lvl="0" indent="0" algn="l" rtl="0">
                        <a:spcBef>
                          <a:spcPts val="0"/>
                        </a:spcBef>
                        <a:spcAft>
                          <a:spcPts val="0"/>
                        </a:spcAft>
                        <a:buNone/>
                      </a:pPr>
                      <a:r>
                        <a:rPr lang="en-US" sz="1200" b="0" i="0" u="none" strike="noStrike" cap="none">
                          <a:solidFill>
                            <a:srgbClr val="334155"/>
                          </a:solidFill>
                          <a:latin typeface="Lato"/>
                          <a:ea typeface="Lato"/>
                          <a:cs typeface="Lato"/>
                          <a:sym typeface="Lato"/>
                        </a:rPr>
                        <a:t>ARIMA (No Inputs)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a:ea typeface="Lato"/>
                          <a:cs typeface="Lato"/>
                          <a:sym typeface="Lato"/>
                        </a:rPr>
                        <a:t>-579.16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a:ea typeface="Lato"/>
                          <a:cs typeface="Lato"/>
                          <a:sym typeface="Lato"/>
                        </a:rPr>
                        <a:t>-560.42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78625">
                <a:tc>
                  <a:txBody>
                    <a:bodyPr/>
                    <a:lstStyle/>
                    <a:p>
                      <a:pPr marL="0" marR="0" lvl="0" indent="0" algn="l" rtl="0">
                        <a:spcBef>
                          <a:spcPts val="0"/>
                        </a:spcBef>
                        <a:spcAft>
                          <a:spcPts val="0"/>
                        </a:spcAft>
                        <a:buNone/>
                      </a:pPr>
                      <a:r>
                        <a:rPr lang="en-US" sz="1200" b="0" i="0" u="none" strike="noStrike" cap="none">
                          <a:solidFill>
                            <a:srgbClr val="334155"/>
                          </a:solidFill>
                          <a:latin typeface="Lato"/>
                          <a:ea typeface="Lato"/>
                          <a:cs typeface="Lato"/>
                          <a:sym typeface="Lato"/>
                        </a:rPr>
                        <a:t>ARIMAX (Lagged Inputs)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a:ea typeface="Lato"/>
                          <a:cs typeface="Lato"/>
                          <a:sym typeface="Lato"/>
                        </a:rPr>
                        <a:t>-582.09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334155"/>
                          </a:solidFill>
                          <a:latin typeface="Lato"/>
                          <a:ea typeface="Lato"/>
                          <a:cs typeface="Lato"/>
                          <a:sym typeface="Lato"/>
                        </a:rPr>
                        <a:t>-563.34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78625">
                <a:tc>
                  <a:txBody>
                    <a:bodyPr/>
                    <a:lstStyle/>
                    <a:p>
                      <a:pPr marL="0" marR="0" lvl="0" indent="0" algn="l" rtl="0">
                        <a:spcBef>
                          <a:spcPts val="0"/>
                        </a:spcBef>
                        <a:spcAft>
                          <a:spcPts val="0"/>
                        </a:spcAft>
                        <a:buNone/>
                      </a:pPr>
                      <a:r>
                        <a:rPr lang="en-US" sz="1200" b="1" i="0" u="none" strike="noStrike" cap="none">
                          <a:solidFill>
                            <a:srgbClr val="334155"/>
                          </a:solidFill>
                          <a:latin typeface="Lato"/>
                          <a:ea typeface="Lato"/>
                          <a:cs typeface="Lato"/>
                          <a:sym typeface="Lato"/>
                        </a:rPr>
                        <a:t>ARIMAX (Contemporaneous)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i="0" u="none" strike="noStrike" cap="none">
                          <a:solidFill>
                            <a:srgbClr val="334155"/>
                          </a:solidFill>
                          <a:latin typeface="Lato"/>
                          <a:ea typeface="Lato"/>
                          <a:cs typeface="Lato"/>
                          <a:sym typeface="Lato"/>
                        </a:rPr>
                        <a:t>-622.66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i="0" u="none" strike="noStrike" cap="none">
                          <a:solidFill>
                            <a:srgbClr val="334155"/>
                          </a:solidFill>
                          <a:latin typeface="Lato"/>
                          <a:ea typeface="Lato"/>
                          <a:cs typeface="Lato"/>
                          <a:sym typeface="Lato"/>
                        </a:rPr>
                        <a:t>-594.54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43" name="Google Shape;143;p19">
            <a:extLst>
              <a:ext uri="{FF2B5EF4-FFF2-40B4-BE49-F238E27FC236}">
                <a16:creationId xmlns:a16="http://schemas.microsoft.com/office/drawing/2014/main" id="{91C5B538-0B40-82EE-FACE-0F2AB4A09474}"/>
              </a:ext>
              <a:ext uri="{C183D7F6-B498-43B3-948B-1728B52AA6E4}">
                <adec:decorative xmlns:adec="http://schemas.microsoft.com/office/drawing/2017/decorative" val="1"/>
              </a:ext>
            </a:extLst>
          </p:cNvPr>
          <p:cNvSpPr/>
          <p:nvPr/>
        </p:nvSpPr>
        <p:spPr>
          <a:xfrm>
            <a:off x="571500" y="3864187"/>
            <a:ext cx="11049000" cy="561975"/>
          </a:xfrm>
          <a:prstGeom prst="rect">
            <a:avLst/>
          </a:prstGeom>
          <a:solidFill>
            <a:srgbClr val="EFF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9">
            <a:extLst>
              <a:ext uri="{FF2B5EF4-FFF2-40B4-BE49-F238E27FC236}">
                <a16:creationId xmlns:a16="http://schemas.microsoft.com/office/drawing/2014/main" id="{73931EF6-D219-5885-7946-6331AAF00563}"/>
              </a:ext>
            </a:extLst>
          </p:cNvPr>
          <p:cNvSpPr txBox="1"/>
          <p:nvPr/>
        </p:nvSpPr>
        <p:spPr>
          <a:xfrm>
            <a:off x="762000" y="4054687"/>
            <a:ext cx="106680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334155"/>
                </a:solidFill>
                <a:latin typeface="Lato"/>
                <a:ea typeface="Lato"/>
                <a:cs typeface="Lato"/>
                <a:sym typeface="Lato"/>
              </a:rPr>
              <a:t>The model using current-month VIX/Inflation (Contemporaneous) is the winner due to the lowest AIC/BIC scores.</a:t>
            </a:r>
            <a:endParaRPr dirty="0"/>
          </a:p>
        </p:txBody>
      </p:sp>
      <p:sp>
        <p:nvSpPr>
          <p:cNvPr id="145" name="Google Shape;145;p19">
            <a:extLst>
              <a:ext uri="{FF2B5EF4-FFF2-40B4-BE49-F238E27FC236}">
                <a16:creationId xmlns:a16="http://schemas.microsoft.com/office/drawing/2014/main" id="{5C2D19A4-E997-8349-29B3-41521B9367E1}"/>
              </a:ext>
              <a:ext uri="{C183D7F6-B498-43B3-948B-1728B52AA6E4}">
                <adec:decorative xmlns:adec="http://schemas.microsoft.com/office/drawing/2017/decorative" val="1"/>
              </a:ext>
            </a:extLst>
          </p:cNvPr>
          <p:cNvSpPr/>
          <p:nvPr/>
        </p:nvSpPr>
        <p:spPr>
          <a:xfrm>
            <a:off x="571500" y="3864187"/>
            <a:ext cx="57150" cy="5619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9">
            <a:extLst>
              <a:ext uri="{FF2B5EF4-FFF2-40B4-BE49-F238E27FC236}">
                <a16:creationId xmlns:a16="http://schemas.microsoft.com/office/drawing/2014/main" id="{0EF1F2AE-9A51-A61E-7056-9C3CC253A334}"/>
              </a:ext>
              <a:ext uri="{C183D7F6-B498-43B3-948B-1728B52AA6E4}">
                <adec:decorative xmlns:adec="http://schemas.microsoft.com/office/drawing/2017/decorative" val="1"/>
              </a:ext>
            </a:extLst>
          </p:cNvPr>
          <p:cNvSpPr/>
          <p:nvPr/>
        </p:nvSpPr>
        <p:spPr>
          <a:xfrm>
            <a:off x="571500" y="2216362"/>
            <a:ext cx="6456461"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9">
            <a:extLst>
              <a:ext uri="{FF2B5EF4-FFF2-40B4-BE49-F238E27FC236}">
                <a16:creationId xmlns:a16="http://schemas.microsoft.com/office/drawing/2014/main" id="{D88D3770-4DAB-EB0E-8DFE-792735DF5BC2}"/>
              </a:ext>
              <a:ext uri="{C183D7F6-B498-43B3-948B-1728B52AA6E4}">
                <adec:decorative xmlns:adec="http://schemas.microsoft.com/office/drawing/2017/decorative" val="1"/>
              </a:ext>
            </a:extLst>
          </p:cNvPr>
          <p:cNvSpPr/>
          <p:nvPr/>
        </p:nvSpPr>
        <p:spPr>
          <a:xfrm>
            <a:off x="7027961" y="2216362"/>
            <a:ext cx="2296120"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9">
            <a:extLst>
              <a:ext uri="{FF2B5EF4-FFF2-40B4-BE49-F238E27FC236}">
                <a16:creationId xmlns:a16="http://schemas.microsoft.com/office/drawing/2014/main" id="{147CB54C-2CE8-A189-C207-2050CB0A68DC}"/>
              </a:ext>
              <a:ext uri="{C183D7F6-B498-43B3-948B-1728B52AA6E4}">
                <adec:decorative xmlns:adec="http://schemas.microsoft.com/office/drawing/2017/decorative" val="1"/>
              </a:ext>
            </a:extLst>
          </p:cNvPr>
          <p:cNvSpPr/>
          <p:nvPr/>
        </p:nvSpPr>
        <p:spPr>
          <a:xfrm>
            <a:off x="9324082" y="2216362"/>
            <a:ext cx="2296417"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9">
            <a:extLst>
              <a:ext uri="{FF2B5EF4-FFF2-40B4-BE49-F238E27FC236}">
                <a16:creationId xmlns:a16="http://schemas.microsoft.com/office/drawing/2014/main" id="{B6D5B3EC-CD8A-2631-DF70-28A648C615B3}"/>
              </a:ext>
              <a:ext uri="{C183D7F6-B498-43B3-948B-1728B52AA6E4}">
                <adec:decorative xmlns:adec="http://schemas.microsoft.com/office/drawing/2017/decorative" val="1"/>
              </a:ext>
            </a:extLst>
          </p:cNvPr>
          <p:cNvSpPr/>
          <p:nvPr/>
        </p:nvSpPr>
        <p:spPr>
          <a:xfrm>
            <a:off x="571500" y="2706899"/>
            <a:ext cx="645646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9">
            <a:extLst>
              <a:ext uri="{FF2B5EF4-FFF2-40B4-BE49-F238E27FC236}">
                <a16:creationId xmlns:a16="http://schemas.microsoft.com/office/drawing/2014/main" id="{CE887DCD-4C2B-C99D-11BD-E74F7C9EA3B2}"/>
              </a:ext>
              <a:ext uri="{C183D7F6-B498-43B3-948B-1728B52AA6E4}">
                <adec:decorative xmlns:adec="http://schemas.microsoft.com/office/drawing/2017/decorative" val="1"/>
              </a:ext>
            </a:extLst>
          </p:cNvPr>
          <p:cNvSpPr/>
          <p:nvPr/>
        </p:nvSpPr>
        <p:spPr>
          <a:xfrm>
            <a:off x="7027961" y="2706899"/>
            <a:ext cx="229612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9">
            <a:extLst>
              <a:ext uri="{FF2B5EF4-FFF2-40B4-BE49-F238E27FC236}">
                <a16:creationId xmlns:a16="http://schemas.microsoft.com/office/drawing/2014/main" id="{F7BA7BB4-6928-D63C-9F13-B7187D086100}"/>
              </a:ext>
              <a:ext uri="{C183D7F6-B498-43B3-948B-1728B52AA6E4}">
                <adec:decorative xmlns:adec="http://schemas.microsoft.com/office/drawing/2017/decorative" val="1"/>
              </a:ext>
            </a:extLst>
          </p:cNvPr>
          <p:cNvSpPr/>
          <p:nvPr/>
        </p:nvSpPr>
        <p:spPr>
          <a:xfrm>
            <a:off x="9324082" y="2706899"/>
            <a:ext cx="22964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9">
            <a:extLst>
              <a:ext uri="{FF2B5EF4-FFF2-40B4-BE49-F238E27FC236}">
                <a16:creationId xmlns:a16="http://schemas.microsoft.com/office/drawing/2014/main" id="{425EF3B2-242F-695E-CBEC-B998B2BDD61E}"/>
              </a:ext>
              <a:ext uri="{C183D7F6-B498-43B3-948B-1728B52AA6E4}">
                <adec:decorative xmlns:adec="http://schemas.microsoft.com/office/drawing/2017/decorative" val="1"/>
              </a:ext>
            </a:extLst>
          </p:cNvPr>
          <p:cNvSpPr/>
          <p:nvPr/>
        </p:nvSpPr>
        <p:spPr>
          <a:xfrm>
            <a:off x="571500" y="3183149"/>
            <a:ext cx="645646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9">
            <a:extLst>
              <a:ext uri="{FF2B5EF4-FFF2-40B4-BE49-F238E27FC236}">
                <a16:creationId xmlns:a16="http://schemas.microsoft.com/office/drawing/2014/main" id="{9BB7C291-B87A-A068-5217-BF2D507612FF}"/>
              </a:ext>
              <a:ext uri="{C183D7F6-B498-43B3-948B-1728B52AA6E4}">
                <adec:decorative xmlns:adec="http://schemas.microsoft.com/office/drawing/2017/decorative" val="1"/>
              </a:ext>
            </a:extLst>
          </p:cNvPr>
          <p:cNvSpPr/>
          <p:nvPr/>
        </p:nvSpPr>
        <p:spPr>
          <a:xfrm>
            <a:off x="7027961" y="3183149"/>
            <a:ext cx="229612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9">
            <a:extLst>
              <a:ext uri="{FF2B5EF4-FFF2-40B4-BE49-F238E27FC236}">
                <a16:creationId xmlns:a16="http://schemas.microsoft.com/office/drawing/2014/main" id="{B9E9C109-F542-2F00-94EE-5AD691AD2A60}"/>
              </a:ext>
              <a:ext uri="{C183D7F6-B498-43B3-948B-1728B52AA6E4}">
                <adec:decorative xmlns:adec="http://schemas.microsoft.com/office/drawing/2017/decorative" val="1"/>
              </a:ext>
            </a:extLst>
          </p:cNvPr>
          <p:cNvSpPr/>
          <p:nvPr/>
        </p:nvSpPr>
        <p:spPr>
          <a:xfrm>
            <a:off x="9324082" y="3183149"/>
            <a:ext cx="22964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9">
            <a:extLst>
              <a:ext uri="{FF2B5EF4-FFF2-40B4-BE49-F238E27FC236}">
                <a16:creationId xmlns:a16="http://schemas.microsoft.com/office/drawing/2014/main" id="{294F7BE0-4EE6-9A13-D52F-30E715D05904}"/>
              </a:ext>
              <a:ext uri="{C183D7F6-B498-43B3-948B-1728B52AA6E4}">
                <adec:decorative xmlns:adec="http://schemas.microsoft.com/office/drawing/2017/decorative" val="1"/>
              </a:ext>
            </a:extLst>
          </p:cNvPr>
          <p:cNvSpPr/>
          <p:nvPr/>
        </p:nvSpPr>
        <p:spPr>
          <a:xfrm>
            <a:off x="571500" y="3659399"/>
            <a:ext cx="645646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9">
            <a:extLst>
              <a:ext uri="{FF2B5EF4-FFF2-40B4-BE49-F238E27FC236}">
                <a16:creationId xmlns:a16="http://schemas.microsoft.com/office/drawing/2014/main" id="{997C8E73-F1BA-FBD8-9FC0-CBC4378D6A54}"/>
              </a:ext>
              <a:ext uri="{C183D7F6-B498-43B3-948B-1728B52AA6E4}">
                <adec:decorative xmlns:adec="http://schemas.microsoft.com/office/drawing/2017/decorative" val="1"/>
              </a:ext>
            </a:extLst>
          </p:cNvPr>
          <p:cNvSpPr/>
          <p:nvPr/>
        </p:nvSpPr>
        <p:spPr>
          <a:xfrm>
            <a:off x="7027961" y="3659399"/>
            <a:ext cx="229612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9">
            <a:extLst>
              <a:ext uri="{FF2B5EF4-FFF2-40B4-BE49-F238E27FC236}">
                <a16:creationId xmlns:a16="http://schemas.microsoft.com/office/drawing/2014/main" id="{3C0A721F-3DDF-EDFA-C815-B16DC15A7E83}"/>
              </a:ext>
              <a:ext uri="{C183D7F6-B498-43B3-948B-1728B52AA6E4}">
                <adec:decorative xmlns:adec="http://schemas.microsoft.com/office/drawing/2017/decorative" val="1"/>
              </a:ext>
            </a:extLst>
          </p:cNvPr>
          <p:cNvSpPr/>
          <p:nvPr/>
        </p:nvSpPr>
        <p:spPr>
          <a:xfrm>
            <a:off x="9324082" y="3659399"/>
            <a:ext cx="22964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Google Shape;90;p13" descr="image.png">
            <a:extLst>
              <a:ext uri="{FF2B5EF4-FFF2-40B4-BE49-F238E27FC236}">
                <a16:creationId xmlns:a16="http://schemas.microsoft.com/office/drawing/2014/main" id="{932B72DE-2FB7-EBD2-1B38-DE0E8EEE8E75}"/>
              </a:ext>
            </a:extLst>
          </p:cNvPr>
          <p:cNvPicPr preferRelativeResize="0"/>
          <p:nvPr/>
        </p:nvPicPr>
        <p:blipFill rotWithShape="1">
          <a:blip r:embed="rId3">
            <a:alphaModFix/>
          </a:blip>
          <a:srcRect/>
          <a:stretch/>
        </p:blipFill>
        <p:spPr>
          <a:xfrm>
            <a:off x="3638550" y="5569161"/>
            <a:ext cx="4914900" cy="538906"/>
          </a:xfrm>
          <a:prstGeom prst="rect">
            <a:avLst/>
          </a:prstGeom>
          <a:noFill/>
          <a:ln>
            <a:noFill/>
          </a:ln>
        </p:spPr>
      </p:pic>
      <p:sp>
        <p:nvSpPr>
          <p:cNvPr id="3" name="Google Shape;105;p13">
            <a:extLst>
              <a:ext uri="{FF2B5EF4-FFF2-40B4-BE49-F238E27FC236}">
                <a16:creationId xmlns:a16="http://schemas.microsoft.com/office/drawing/2014/main" id="{1AB35874-6B64-AF26-D5F0-65301095F3C2}"/>
              </a:ext>
            </a:extLst>
          </p:cNvPr>
          <p:cNvSpPr txBox="1"/>
          <p:nvPr/>
        </p:nvSpPr>
        <p:spPr>
          <a:xfrm>
            <a:off x="3638550" y="4778586"/>
            <a:ext cx="5160645" cy="2571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50" b="1" i="0" u="none" strike="noStrike" cap="none">
                <a:solidFill>
                  <a:srgbClr val="2563EB"/>
                </a:solidFill>
                <a:latin typeface="Poppins"/>
                <a:ea typeface="Poppins"/>
                <a:cs typeface="Poppins"/>
                <a:sym typeface="Poppins"/>
              </a:rPr>
              <a:t>2. CONTEMPORANEOUS SARIMAX</a:t>
            </a:r>
            <a:endParaRPr/>
          </a:p>
        </p:txBody>
      </p:sp>
      <p:sp>
        <p:nvSpPr>
          <p:cNvPr id="4" name="Google Shape;106;p13">
            <a:extLst>
              <a:ext uri="{FF2B5EF4-FFF2-40B4-BE49-F238E27FC236}">
                <a16:creationId xmlns:a16="http://schemas.microsoft.com/office/drawing/2014/main" id="{D764B33E-565C-B902-1B4E-1B580D0BAF67}"/>
              </a:ext>
            </a:extLst>
          </p:cNvPr>
          <p:cNvSpPr txBox="1"/>
          <p:nvPr/>
        </p:nvSpPr>
        <p:spPr>
          <a:xfrm>
            <a:off x="3638550" y="5254836"/>
            <a:ext cx="4914900" cy="2000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25" b="0" i="0" u="none" strike="noStrike" cap="none">
                <a:solidFill>
                  <a:srgbClr val="64748B"/>
                </a:solidFill>
                <a:latin typeface="Lato"/>
                <a:ea typeface="Lato"/>
                <a:cs typeface="Lato"/>
                <a:sym typeface="Lato"/>
              </a:rPr>
              <a:t>Best fit model capturing immediate market reactions to fear and inflation.</a:t>
            </a:r>
            <a:endParaRPr/>
          </a:p>
        </p:txBody>
      </p:sp>
      <p:pic>
        <p:nvPicPr>
          <p:cNvPr id="5" name="Google Shape;112;p13" descr="image.png">
            <a:extLst>
              <a:ext uri="{FF2B5EF4-FFF2-40B4-BE49-F238E27FC236}">
                <a16:creationId xmlns:a16="http://schemas.microsoft.com/office/drawing/2014/main" id="{ED523535-4E68-F05A-0BC2-0DF992F630DE}"/>
              </a:ext>
            </a:extLst>
          </p:cNvPr>
          <p:cNvPicPr preferRelativeResize="0"/>
          <p:nvPr/>
        </p:nvPicPr>
        <p:blipFill rotWithShape="1">
          <a:blip r:embed="rId4">
            <a:alphaModFix/>
          </a:blip>
          <a:srcRect/>
          <a:stretch/>
        </p:blipFill>
        <p:spPr>
          <a:xfrm>
            <a:off x="7029450" y="4788111"/>
            <a:ext cx="1533525" cy="247650"/>
          </a:xfrm>
          <a:prstGeom prst="rect">
            <a:avLst/>
          </a:prstGeom>
          <a:noFill/>
          <a:ln>
            <a:noFill/>
          </a:ln>
        </p:spPr>
      </p:pic>
      <p:pic>
        <p:nvPicPr>
          <p:cNvPr id="6" name="Google Shape;113;p13" descr="image.png">
            <a:extLst>
              <a:ext uri="{FF2B5EF4-FFF2-40B4-BE49-F238E27FC236}">
                <a16:creationId xmlns:a16="http://schemas.microsoft.com/office/drawing/2014/main" id="{28526286-303F-7161-5A6A-591FE0397B03}"/>
              </a:ext>
            </a:extLst>
          </p:cNvPr>
          <p:cNvPicPr preferRelativeResize="0"/>
          <p:nvPr/>
        </p:nvPicPr>
        <p:blipFill rotWithShape="1">
          <a:blip r:embed="rId5">
            <a:alphaModFix/>
          </a:blip>
          <a:srcRect/>
          <a:stretch/>
        </p:blipFill>
        <p:spPr>
          <a:xfrm>
            <a:off x="4619178" y="5721561"/>
            <a:ext cx="2953494" cy="234106"/>
          </a:xfrm>
          <a:prstGeom prst="rect">
            <a:avLst/>
          </a:prstGeom>
          <a:noFill/>
          <a:ln>
            <a:noFill/>
          </a:ln>
        </p:spPr>
      </p:pic>
    </p:spTree>
    <p:extLst>
      <p:ext uri="{BB962C8B-B14F-4D97-AF65-F5344CB8AC3E}">
        <p14:creationId xmlns:p14="http://schemas.microsoft.com/office/powerpoint/2010/main" val="1118603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sp>
        <p:nvSpPr>
          <p:cNvPr id="163" name="Google Shape;163;p20"/>
          <p:cNvSpPr txBox="1"/>
          <p:nvPr/>
        </p:nvSpPr>
        <p:spPr>
          <a:xfrm>
            <a:off x="571500" y="219075"/>
            <a:ext cx="11601450"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dirty="0">
                <a:solidFill>
                  <a:srgbClr val="0F172A"/>
                </a:solidFill>
                <a:latin typeface="Poppins SemiBold"/>
                <a:ea typeface="Poppins SemiBold"/>
                <a:cs typeface="Poppins SemiBold"/>
                <a:sym typeface="Poppins SemiBold"/>
              </a:rPr>
              <a:t>6. Residual Checks (White Noise)</a:t>
            </a:r>
            <a:endParaRPr dirty="0"/>
          </a:p>
        </p:txBody>
      </p:sp>
      <p:sp>
        <p:nvSpPr>
          <p:cNvPr id="164" name="Google Shape;164;p20">
            <a:extLst>
              <a:ext uri="{C183D7F6-B498-43B3-948B-1728B52AA6E4}">
                <adec:decorative xmlns:adec="http://schemas.microsoft.com/office/drawing/2017/decorative" val="1"/>
              </a:ext>
            </a:extLst>
          </p:cNvPr>
          <p:cNvSpPr/>
          <p:nvPr/>
        </p:nvSpPr>
        <p:spPr>
          <a:xfrm>
            <a:off x="571499" y="647764"/>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5A3DA930-94D3-24EB-35FF-1845402C5E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11939" y="685864"/>
            <a:ext cx="7968121" cy="5481572"/>
          </a:xfrm>
          <a:prstGeom prst="rect">
            <a:avLst/>
          </a:prstGeom>
        </p:spPr>
      </p:pic>
      <p:sp>
        <p:nvSpPr>
          <p:cNvPr id="165" name="Google Shape;165;p20">
            <a:extLst>
              <a:ext uri="{C183D7F6-B498-43B3-948B-1728B52AA6E4}">
                <adec:decorative xmlns:adec="http://schemas.microsoft.com/office/drawing/2017/decorative" val="1"/>
              </a:ext>
            </a:extLst>
          </p:cNvPr>
          <p:cNvSpPr/>
          <p:nvPr/>
        </p:nvSpPr>
        <p:spPr>
          <a:xfrm>
            <a:off x="571500" y="6167437"/>
            <a:ext cx="11049000" cy="561975"/>
          </a:xfrm>
          <a:prstGeom prst="rect">
            <a:avLst/>
          </a:prstGeom>
          <a:solidFill>
            <a:srgbClr val="EFF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20">
            <a:extLst>
              <a:ext uri="{C183D7F6-B498-43B3-948B-1728B52AA6E4}">
                <adec:decorative xmlns:adec="http://schemas.microsoft.com/office/drawing/2017/decorative" val="1"/>
              </a:ext>
            </a:extLst>
          </p:cNvPr>
          <p:cNvSpPr/>
          <p:nvPr/>
        </p:nvSpPr>
        <p:spPr>
          <a:xfrm>
            <a:off x="571500" y="6167436"/>
            <a:ext cx="57150" cy="5619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6" name="Google Shape;166;p20"/>
          <p:cNvSpPr txBox="1">
            <a:spLocks noGrp="1"/>
          </p:cNvSpPr>
          <p:nvPr>
            <p:ph type="title" idx="4294967295"/>
          </p:nvPr>
        </p:nvSpPr>
        <p:spPr>
          <a:xfrm>
            <a:off x="762000" y="6357935"/>
            <a:ext cx="10668000" cy="180975"/>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334155"/>
                </a:solidFill>
                <a:effectLst/>
                <a:uLnTx/>
                <a:uFillTx/>
                <a:latin typeface="Lato"/>
                <a:ea typeface="Lato"/>
                <a:cs typeface="Lato"/>
                <a:sym typeface="Lato"/>
              </a:rPr>
              <a:t>Ljung-Box p-value: 0.6489.</a:t>
            </a:r>
            <a:r>
              <a:rPr kumimoji="0" lang="en-US" sz="1200" b="0" i="0" u="none" strike="noStrike" kern="0" cap="none" spc="0" normalizeH="0" baseline="0" noProof="0" dirty="0">
                <a:ln>
                  <a:noFill/>
                </a:ln>
                <a:solidFill>
                  <a:srgbClr val="334155"/>
                </a:solidFill>
                <a:effectLst/>
                <a:uLnTx/>
                <a:uFillTx/>
                <a:latin typeface="Lato"/>
                <a:ea typeface="Lato"/>
                <a:cs typeface="Lato"/>
                <a:sym typeface="Lato"/>
              </a:rPr>
              <a:t> Since p &gt; 0.05, we conclude the residuals are </a:t>
            </a:r>
            <a:r>
              <a:rPr kumimoji="0" lang="en-US" sz="1200" b="1" i="0" u="none" strike="noStrike" kern="0" cap="none" spc="0" normalizeH="0" baseline="0" noProof="0" dirty="0">
                <a:ln>
                  <a:noFill/>
                </a:ln>
                <a:solidFill>
                  <a:srgbClr val="334155"/>
                </a:solidFill>
                <a:effectLst/>
                <a:uLnTx/>
                <a:uFillTx/>
                <a:latin typeface="Lato"/>
                <a:ea typeface="Lato"/>
                <a:cs typeface="Lato"/>
                <a:sym typeface="Lato"/>
              </a:rPr>
              <a:t>White Noise</a:t>
            </a:r>
            <a:r>
              <a:rPr kumimoji="0" lang="en-US" sz="1200" b="0" i="0" u="none" strike="noStrike" kern="0" cap="none" spc="0" normalizeH="0" baseline="0" noProof="0" dirty="0">
                <a:ln>
                  <a:noFill/>
                </a:ln>
                <a:solidFill>
                  <a:srgbClr val="334155"/>
                </a:solidFill>
                <a:effectLst/>
                <a:uLnTx/>
                <a:uFillTx/>
                <a:latin typeface="Lato"/>
                <a:ea typeface="Lato"/>
                <a:cs typeface="Lato"/>
                <a:sym typeface="Lato"/>
              </a:rPr>
              <a:t> and the model is valid.</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3" name="Picture 2">
            <a:extLst>
              <a:ext uri="{FF2B5EF4-FFF2-40B4-BE49-F238E27FC236}">
                <a16:creationId xmlns:a16="http://schemas.microsoft.com/office/drawing/2014/main" id="{6990A040-2B14-8B75-234D-FBBB4977594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209800" y="198369"/>
            <a:ext cx="7772400" cy="6440556"/>
          </a:xfrm>
          <a:prstGeom prst="rect">
            <a:avLst/>
          </a:prstGeom>
        </p:spPr>
      </p:pic>
      <p:sp>
        <p:nvSpPr>
          <p:cNvPr id="175" name="Google Shape;175;p21"/>
          <p:cNvSpPr txBox="1"/>
          <p:nvPr/>
        </p:nvSpPr>
        <p:spPr>
          <a:xfrm>
            <a:off x="571500" y="6496050"/>
            <a:ext cx="110490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475569"/>
                </a:solidFill>
                <a:latin typeface="Lato"/>
                <a:ea typeface="Lato"/>
                <a:cs typeface="Lato"/>
                <a:sym typeface="Lato"/>
              </a:rPr>
              <a:t>Does a sudden jump in inflation significantly drop the market in the following months?</a:t>
            </a:r>
            <a:endParaRPr dirty="0"/>
          </a:p>
        </p:txBody>
      </p:sp>
      <p:sp>
        <p:nvSpPr>
          <p:cNvPr id="174" name="Google Shape;174;p21">
            <a:extLst>
              <a:ext uri="{C183D7F6-B498-43B3-948B-1728B52AA6E4}">
                <adec:decorative xmlns:adec="http://schemas.microsoft.com/office/drawing/2017/decorative" val="1"/>
              </a:ext>
            </a:extLst>
          </p:cNvPr>
          <p:cNvSpPr/>
          <p:nvPr/>
        </p:nvSpPr>
        <p:spPr>
          <a:xfrm>
            <a:off x="571500" y="648919"/>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21"/>
          <p:cNvSpPr txBox="1">
            <a:spLocks noGrp="1"/>
          </p:cNvSpPr>
          <p:nvPr>
            <p:ph type="title" idx="4294967295"/>
          </p:nvPr>
        </p:nvSpPr>
        <p:spPr>
          <a:xfrm>
            <a:off x="571500" y="219075"/>
            <a:ext cx="11601450" cy="542925"/>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0" i="0" u="none" strike="noStrike" kern="0" cap="none" spc="0" normalizeH="0" baseline="0" noProof="0" dirty="0">
                <a:ln>
                  <a:noFill/>
                </a:ln>
                <a:solidFill>
                  <a:srgbClr val="0F172A"/>
                </a:solidFill>
                <a:effectLst/>
                <a:uLnTx/>
                <a:uFillTx/>
                <a:latin typeface="Poppins SemiBold"/>
                <a:ea typeface="Poppins SemiBold"/>
                <a:cs typeface="Poppins SemiBold"/>
                <a:sym typeface="Poppins SemiBold"/>
              </a:rPr>
              <a:t>7. VAR Model: Inflation Shock on Market</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pic>
        <p:nvPicPr>
          <p:cNvPr id="3" name="Picture 2">
            <a:extLst>
              <a:ext uri="{FF2B5EF4-FFF2-40B4-BE49-F238E27FC236}">
                <a16:creationId xmlns:a16="http://schemas.microsoft.com/office/drawing/2014/main" id="{3B50A198-F88E-A666-38F4-A7307EA7C3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209800" y="198369"/>
            <a:ext cx="7772400" cy="6440556"/>
          </a:xfrm>
          <a:prstGeom prst="rect">
            <a:avLst/>
          </a:prstGeom>
        </p:spPr>
      </p:pic>
      <p:sp>
        <p:nvSpPr>
          <p:cNvPr id="183" name="Google Shape;183;p22"/>
          <p:cNvSpPr txBox="1"/>
          <p:nvPr/>
        </p:nvSpPr>
        <p:spPr>
          <a:xfrm>
            <a:off x="571500" y="6496050"/>
            <a:ext cx="110490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475569"/>
                </a:solidFill>
                <a:latin typeface="Lato"/>
                <a:ea typeface="Lato"/>
                <a:cs typeface="Lato"/>
                <a:sym typeface="Lato"/>
              </a:rPr>
              <a:t>Does inflation uncertainty drive up market fear (VIX)?</a:t>
            </a:r>
            <a:endParaRPr dirty="0"/>
          </a:p>
        </p:txBody>
      </p:sp>
      <p:sp>
        <p:nvSpPr>
          <p:cNvPr id="181" name="Google Shape;181;p22"/>
          <p:cNvSpPr txBox="1">
            <a:spLocks noGrp="1"/>
          </p:cNvSpPr>
          <p:nvPr>
            <p:ph type="title" idx="4294967295"/>
          </p:nvPr>
        </p:nvSpPr>
        <p:spPr>
          <a:xfrm>
            <a:off x="571500" y="219075"/>
            <a:ext cx="10676722" cy="415498"/>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0" i="0" u="none" strike="noStrike" kern="0" cap="none" spc="0" normalizeH="0" baseline="0" noProof="0" dirty="0">
                <a:ln>
                  <a:noFill/>
                </a:ln>
                <a:solidFill>
                  <a:srgbClr val="0F172A"/>
                </a:solidFill>
                <a:effectLst/>
                <a:uLnTx/>
                <a:uFillTx/>
                <a:latin typeface="Poppins SemiBold"/>
                <a:ea typeface="Poppins SemiBold"/>
                <a:cs typeface="Poppins SemiBold"/>
                <a:sym typeface="Poppins SemiBold"/>
              </a:rPr>
              <a:t>8. VAR Model: Inflation Shock on VIX</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82" name="Google Shape;182;p22">
            <a:extLst>
              <a:ext uri="{C183D7F6-B498-43B3-948B-1728B52AA6E4}">
                <adec:decorative xmlns:adec="http://schemas.microsoft.com/office/drawing/2017/decorative" val="1"/>
              </a:ext>
            </a:extLst>
          </p:cNvPr>
          <p:cNvSpPr/>
          <p:nvPr/>
        </p:nvSpPr>
        <p:spPr>
          <a:xfrm>
            <a:off x="571500" y="648919"/>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sp>
        <p:nvSpPr>
          <p:cNvPr id="188" name="Google Shape;188;p23"/>
          <p:cNvSpPr txBox="1">
            <a:spLocks noGrp="1"/>
          </p:cNvSpPr>
          <p:nvPr>
            <p:ph type="title" idx="4294967295"/>
          </p:nvPr>
        </p:nvSpPr>
        <p:spPr>
          <a:xfrm>
            <a:off x="571500" y="856059"/>
            <a:ext cx="11601450" cy="542925"/>
          </a:xfrm>
          <a:prstGeom prst="rect">
            <a:avLst/>
          </a:prstGeom>
          <a:noFill/>
          <a:ln>
            <a:noFill/>
            <a:prstDash/>
          </a:ln>
          <a:effectLst/>
        </p:spPr>
        <p:txBody>
          <a:bodyPr rot="0" spcFirstLastPara="1"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700" b="0" i="0" u="none" strike="noStrike" kern="0" cap="none" spc="0" normalizeH="0" baseline="0" noProof="0" dirty="0">
                <a:ln>
                  <a:noFill/>
                </a:ln>
                <a:solidFill>
                  <a:srgbClr val="0F172A"/>
                </a:solidFill>
                <a:effectLst/>
                <a:uLnTx/>
                <a:uFillTx/>
                <a:latin typeface="Poppins SemiBold"/>
                <a:ea typeface="Poppins SemiBold"/>
                <a:cs typeface="Poppins SemiBold"/>
                <a:sym typeface="Poppins SemiBold"/>
              </a:rPr>
              <a:t>Conclusions</a:t>
            </a:r>
            <a:endParaRPr kumimoji="0" lang="en-U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89" name="Google Shape;189;p23">
            <a:extLst>
              <a:ext uri="{C183D7F6-B498-43B3-948B-1728B52AA6E4}">
                <adec:decorative xmlns:adec="http://schemas.microsoft.com/office/drawing/2017/decorative" val="1"/>
              </a:ext>
            </a:extLst>
          </p:cNvPr>
          <p:cNvSpPr/>
          <p:nvPr/>
        </p:nvSpPr>
        <p:spPr>
          <a:xfrm>
            <a:off x="571500" y="1475184"/>
            <a:ext cx="11049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23"/>
          <p:cNvSpPr txBox="1"/>
          <p:nvPr/>
        </p:nvSpPr>
        <p:spPr>
          <a:xfrm>
            <a:off x="571500" y="1684734"/>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B82F6"/>
                </a:solidFill>
                <a:latin typeface="Poppins"/>
                <a:ea typeface="Poppins"/>
                <a:cs typeface="Poppins"/>
                <a:sym typeface="Poppins"/>
              </a:rPr>
              <a:t>Summary of Results</a:t>
            </a:r>
            <a:endParaRPr/>
          </a:p>
        </p:txBody>
      </p:sp>
      <p:sp>
        <p:nvSpPr>
          <p:cNvPr id="191" name="Google Shape;191;p23"/>
          <p:cNvSpPr txBox="1"/>
          <p:nvPr/>
        </p:nvSpPr>
        <p:spPr>
          <a:xfrm>
            <a:off x="6286500" y="1684734"/>
            <a:ext cx="560070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B82F6"/>
                </a:solidFill>
                <a:latin typeface="Poppins"/>
                <a:ea typeface="Poppins"/>
                <a:cs typeface="Poppins"/>
                <a:sym typeface="Poppins"/>
              </a:rPr>
              <a:t>Hypothesis Testing</a:t>
            </a:r>
            <a:endParaRPr/>
          </a:p>
        </p:txBody>
      </p:sp>
      <p:sp>
        <p:nvSpPr>
          <p:cNvPr id="192" name="Google Shape;192;p23"/>
          <p:cNvSpPr txBox="1"/>
          <p:nvPr/>
        </p:nvSpPr>
        <p:spPr>
          <a:xfrm>
            <a:off x="6286500" y="2246709"/>
            <a:ext cx="533400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Lato"/>
                <a:ea typeface="Lato"/>
                <a:cs typeface="Lato"/>
                <a:sym typeface="Lato"/>
              </a:rPr>
              <a:t>H1:</a:t>
            </a:r>
            <a:r>
              <a:rPr lang="en-US" sz="1500" b="0" i="0" u="none" strike="noStrike" cap="none" dirty="0">
                <a:solidFill>
                  <a:srgbClr val="475569"/>
                </a:solidFill>
                <a:latin typeface="Lato"/>
                <a:ea typeface="Lato"/>
                <a:cs typeface="Lato"/>
                <a:sym typeface="Lato"/>
              </a:rPr>
              <a:t> Fear (VIX) and Market Returns move opposite and in unison.</a:t>
            </a:r>
            <a:endParaRPr dirty="0"/>
          </a:p>
        </p:txBody>
      </p:sp>
      <p:sp>
        <p:nvSpPr>
          <p:cNvPr id="193" name="Google Shape;193;p23"/>
          <p:cNvSpPr txBox="1"/>
          <p:nvPr/>
        </p:nvSpPr>
        <p:spPr>
          <a:xfrm>
            <a:off x="6286500" y="3008709"/>
            <a:ext cx="5334000"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Lato"/>
                <a:ea typeface="Lato"/>
                <a:cs typeface="Lato"/>
                <a:sym typeface="Lato"/>
              </a:rPr>
              <a:t>H2:</a:t>
            </a:r>
            <a:r>
              <a:rPr lang="en-US" sz="1500" b="0" i="0" u="none" strike="noStrike" cap="none" dirty="0">
                <a:solidFill>
                  <a:srgbClr val="475569"/>
                </a:solidFill>
                <a:latin typeface="Lato"/>
                <a:ea typeface="Lato"/>
                <a:cs typeface="Lato"/>
                <a:sym typeface="Lato"/>
              </a:rPr>
              <a:t> Inflation shocks show no statistically significant lasting impact in the VAR model.</a:t>
            </a:r>
            <a:endParaRPr dirty="0"/>
          </a:p>
        </p:txBody>
      </p:sp>
      <p:sp>
        <p:nvSpPr>
          <p:cNvPr id="194" name="Google Shape;194;p23"/>
          <p:cNvSpPr txBox="1"/>
          <p:nvPr/>
        </p:nvSpPr>
        <p:spPr>
          <a:xfrm>
            <a:off x="838200" y="2246709"/>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75569"/>
                </a:solidFill>
                <a:latin typeface="Lato"/>
                <a:ea typeface="Lato"/>
                <a:cs typeface="Lato"/>
                <a:sym typeface="Lato"/>
              </a:rPr>
              <a:t>•</a:t>
            </a:r>
            <a:endParaRPr/>
          </a:p>
        </p:txBody>
      </p:sp>
      <p:sp>
        <p:nvSpPr>
          <p:cNvPr id="195" name="Google Shape;195;p23"/>
          <p:cNvSpPr txBox="1"/>
          <p:nvPr/>
        </p:nvSpPr>
        <p:spPr>
          <a:xfrm>
            <a:off x="952500" y="2246709"/>
            <a:ext cx="495300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475569"/>
                </a:solidFill>
                <a:latin typeface="Lato"/>
                <a:ea typeface="Lato"/>
                <a:cs typeface="Lato"/>
                <a:sym typeface="Lato"/>
              </a:rPr>
              <a:t>VIX dominance:</a:t>
            </a:r>
            <a:r>
              <a:rPr lang="en-US" sz="1500" b="0" i="0" u="none" strike="noStrike" cap="none">
                <a:solidFill>
                  <a:srgbClr val="475569"/>
                </a:solidFill>
                <a:latin typeface="Lato"/>
                <a:ea typeface="Lato"/>
                <a:cs typeface="Lato"/>
                <a:sym typeface="Lato"/>
              </a:rPr>
              <a:t> Market returns are heavily tied to contemporaneous fear levels.</a:t>
            </a:r>
            <a:endParaRPr/>
          </a:p>
        </p:txBody>
      </p:sp>
      <p:sp>
        <p:nvSpPr>
          <p:cNvPr id="196" name="Google Shape;196;p23"/>
          <p:cNvSpPr txBox="1"/>
          <p:nvPr/>
        </p:nvSpPr>
        <p:spPr>
          <a:xfrm>
            <a:off x="811916" y="3063627"/>
            <a:ext cx="281168"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475569"/>
                </a:solidFill>
                <a:latin typeface="Lato"/>
                <a:ea typeface="Lato"/>
                <a:cs typeface="Lato"/>
                <a:sym typeface="Lato"/>
              </a:rPr>
              <a:t>•</a:t>
            </a:r>
            <a:endParaRPr dirty="0"/>
          </a:p>
        </p:txBody>
      </p:sp>
      <p:sp>
        <p:nvSpPr>
          <p:cNvPr id="197" name="Google Shape;197;p23"/>
          <p:cNvSpPr txBox="1"/>
          <p:nvPr/>
        </p:nvSpPr>
        <p:spPr>
          <a:xfrm>
            <a:off x="952500" y="3008709"/>
            <a:ext cx="495300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dirty="0">
                <a:solidFill>
                  <a:srgbClr val="475569"/>
                </a:solidFill>
                <a:latin typeface="Lato"/>
                <a:ea typeface="Lato"/>
                <a:cs typeface="Lato"/>
                <a:sym typeface="Lato"/>
              </a:rPr>
              <a:t>Inflation:</a:t>
            </a:r>
            <a:r>
              <a:rPr lang="en-US" sz="1500" b="0" i="0" u="none" strike="noStrike" cap="none" dirty="0">
                <a:solidFill>
                  <a:srgbClr val="475569"/>
                </a:solidFill>
                <a:latin typeface="Lato"/>
                <a:ea typeface="Lato"/>
                <a:cs typeface="Lato"/>
                <a:sym typeface="Lato"/>
              </a:rPr>
              <a:t> While significant in the long run, monthly CPI shocks have a smaller immediate impact than volatility.</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1"/>
        <p:cNvGrpSpPr/>
        <p:nvPr/>
      </p:nvGrpSpPr>
      <p:grpSpPr>
        <a:xfrm>
          <a:off x="0" y="0"/>
          <a:ext cx="0" cy="0"/>
          <a:chOff x="0" y="0"/>
          <a:chExt cx="0" cy="0"/>
        </a:xfrm>
      </p:grpSpPr>
      <p:sp>
        <p:nvSpPr>
          <p:cNvPr id="202" name="Google Shape;202;p24"/>
          <p:cNvSpPr txBox="1"/>
          <p:nvPr/>
        </p:nvSpPr>
        <p:spPr>
          <a:xfrm>
            <a:off x="4220765" y="2638425"/>
            <a:ext cx="3750468"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1E293B"/>
                </a:solidFill>
                <a:latin typeface="Lato"/>
                <a:ea typeface="Lato"/>
                <a:cs typeface="Lato"/>
                <a:sym typeface="Lato"/>
              </a:rPr>
              <a:t>Thank You</a:t>
            </a:r>
            <a:endParaRPr/>
          </a:p>
        </p:txBody>
      </p:sp>
      <p:sp>
        <p:nvSpPr>
          <p:cNvPr id="203" name="Google Shape;203;p24"/>
          <p:cNvSpPr txBox="1"/>
          <p:nvPr/>
        </p:nvSpPr>
        <p:spPr>
          <a:xfrm>
            <a:off x="5543550" y="4280445"/>
            <a:ext cx="110490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64748B"/>
                </a:solidFill>
                <a:latin typeface="Lato"/>
                <a:ea typeface="Lato"/>
                <a:cs typeface="Lato"/>
                <a:sym typeface="Lato"/>
              </a:rPr>
              <a:t>Questions?</a:t>
            </a:r>
            <a:endParaRPr dirty="0"/>
          </a:p>
        </p:txBody>
      </p:sp>
      <p:sp>
        <p:nvSpPr>
          <p:cNvPr id="2" name="Google Shape;203;p24">
            <a:extLst>
              <a:ext uri="{FF2B5EF4-FFF2-40B4-BE49-F238E27FC236}">
                <a16:creationId xmlns:a16="http://schemas.microsoft.com/office/drawing/2014/main" id="{10D177E7-D761-03F5-D66B-A0B495BF8C1C}"/>
              </a:ext>
            </a:extLst>
          </p:cNvPr>
          <p:cNvSpPr txBox="1"/>
          <p:nvPr/>
        </p:nvSpPr>
        <p:spPr>
          <a:xfrm>
            <a:off x="4619865" y="6169048"/>
            <a:ext cx="2952268" cy="41549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dirty="0">
                <a:solidFill>
                  <a:srgbClr val="64748B"/>
                </a:solidFill>
                <a:latin typeface="Lato"/>
                <a:ea typeface="Lato"/>
                <a:cs typeface="Lato"/>
                <a:sym typeface="Lato"/>
              </a:rPr>
              <a:t>Manish Suresh Maudgalya</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671</TotalTime>
  <Words>1284</Words>
  <Application>Microsoft Macintosh PowerPoint</Application>
  <PresentationFormat>Widescreen</PresentationFormat>
  <Paragraphs>97</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Poppins</vt:lpstr>
      <vt:lpstr>Lato</vt:lpstr>
      <vt:lpstr>Arial</vt:lpstr>
      <vt:lpstr>Poppins SemiBold</vt:lpstr>
      <vt:lpstr>Calibri</vt:lpstr>
      <vt:lpstr>Office Theme</vt:lpstr>
      <vt:lpstr>Market Dynamics Analysis</vt:lpstr>
      <vt:lpstr>Data Description</vt:lpstr>
      <vt:lpstr>Raw Time Series Data (2010–2023)</vt:lpstr>
      <vt:lpstr>Visualizing log transformed data.</vt:lpstr>
      <vt:lpstr>2. Autocorrelations (ACF)</vt:lpstr>
      <vt:lpstr>Look for the negative spike at Lag 0 between VIX and Market Returns.</vt:lpstr>
      <vt:lpstr>This shows the dominant cycles (frequencies) for each variable.</vt:lpstr>
      <vt:lpstr>PowerPoint Presentation</vt:lpstr>
      <vt:lpstr>Comparing different models to see what best explains the S&amp;P 500.</vt:lpstr>
      <vt:lpstr>Ljung-Box p-value: 0.6489. Since p &gt; 0.05, we conclude the residuals are White Noise and the model is valid.</vt:lpstr>
      <vt:lpstr>7. VAR Model: Inflation Shock on Market</vt:lpstr>
      <vt:lpstr>8. VAR Model: Inflation Shock on VIX</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Suresh Maudgalya, Manish</cp:lastModifiedBy>
  <cp:revision>7</cp:revision>
  <dcterms:modified xsi:type="dcterms:W3CDTF">2026-05-01T04:12:42Z</dcterms:modified>
</cp:coreProperties>
</file>